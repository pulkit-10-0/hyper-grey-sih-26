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bc6ba5ce746cc" /><Relationship Type="http://schemas.openxmlformats.org/officeDocument/2006/relationships/extended-properties" Target="/docProps/app.xml" Id="Rf043c222910144ab" /><Relationship Type="http://schemas.openxmlformats.org/officeDocument/2006/relationships/officeDocument" Target="/ppt/presentation.xml" Id="R2787e3a7abfa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1ada62310c4944"/>
  </p:sldMasterIdLst>
  <p:notesMasterIdLst>
    <p:notesMasterId xmlns:r="http://schemas.openxmlformats.org/officeDocument/2006/relationships" r:id="R38797e76f60c45e7"/>
  </p:notesMasterIdLst>
  <p:sldIdLst>
    <p:sldId xmlns:r="http://schemas.openxmlformats.org/officeDocument/2006/relationships" id="256" r:id="R60ca4ea2c4794f1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9885d240f540f9" /><Relationship Type="http://schemas.openxmlformats.org/officeDocument/2006/relationships/slideMaster" Target="/ppt/slideMasters/slideMaster1.xml" Id="R161ada62310c4944" /><Relationship Type="http://schemas.openxmlformats.org/officeDocument/2006/relationships/notesMaster" Target="/ppt/notesMasters/notesMaster1.xml" Id="R38797e76f60c45e7" /><Relationship Type="http://schemas.openxmlformats.org/officeDocument/2006/relationships/presProps" Target="/ppt/presProps.xml" Id="R71f05e3a25854373" /><Relationship Type="http://schemas.openxmlformats.org/officeDocument/2006/relationships/tableStyles" Target="/ppt/tableStyles.xml" Id="Re0a9785df8704176" /><Relationship Type="http://schemas.openxmlformats.org/officeDocument/2006/relationships/slide" Target="/ppt/slides/slide1.xml" Id="R60ca4ea2c4794f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1e734ab6b49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cfb194debe431d" /><Relationship Type="http://schemas.openxmlformats.org/officeDocument/2006/relationships/notesMaster" Target="/ppt/notesMasters/notesMaster1.xml" Id="R3a24e61816bb49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 PS 26058 clauses C-01 to C-05 and C-08 in the project's compliance matrix; SeaNergy mobile app 2.2.0 README, adaptation and DSP code for pH/depth and four software waveform modes; TX bench firmware and RX capture firmware/Python viewer. The table's approximate sound-speed sensitivities are from NOAA, https://repository.library.noaa.gov/view/noaa/44869/noaa_44869_DS1.pdf (temperature +4.5 m/s per +1 C, salinity +1.3 m/s per +1 ppt, pressure/depth +1.7 m/s per +100 m). These are general seawater reference values, not SeaNergy measurements. The TX and RX benches are separate; adaptive end-to-end underwater operation has not been validated. The AUV hero image is a generated concept illustration.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ebb31f4de43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7c713a309c48df" /><Relationship Type="http://schemas.openxmlformats.org/officeDocument/2006/relationships/slideLayout" Target="/ppt/slideLayouts/slideLayout1.xml" Id="R05d6d59d8cc74b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d6d59d8cc74b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0e6b765f4440e" /><Relationship Type="http://schemas.openxmlformats.org/officeDocument/2006/relationships/image" Target="/ppt/media/image.png" Id="R9c9e85dd9d884f76" /><Relationship Type="http://schemas.openxmlformats.org/officeDocument/2006/relationships/notesSlide" Target="/ppt/notesSlides/notesSlide1.xml" Id="R155097141614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e85dd9d884f76"/>
          <a:srcRect xmlns:a="http://schemas.openxmlformats.org/drawingml/2006/main" l="0" t="24169" r="0" b="24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2952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88291-B3CC-4AFD-AA33-6168CC3A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30272-9A9C-4863-93EF-CE60AFA6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62100"/>
            <a:ext cx="1238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6F5F6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6F5F6"/>
                </a:solidFill>
                <a:latin typeface="Arial"/>
                <a:ea typeface="Arial"/>
                <a:cs typeface="Arial"/>
              </a:rPr>
              <a:t>Adaptive sonar TX and RX for changing water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96532-EE78-4D37-A791-8838ECC4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923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9D7D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9D7DB"/>
                </a:solidFill>
                <a:latin typeface="Arial"/>
                <a:ea typeface="Arial"/>
                <a:cs typeface="Arial"/>
              </a:rPr>
              <a:t>SIH 2026   |   PS 26058   |   TEAM HYPER GREY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C5549-0EA0-4979-BADF-6EF129C2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C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C8C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3172D-76D2-4ED6-83F4-5F949676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6573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SeaNergy lets an AUV design its next sonar ping for the water it is actually in. Temperature, salinity, turbidity, pH and depth feed a model that chooses frequency, bandwidth, duration and waveform to balance reach, detail and energy. A TX bench demonstrates acoustic output, while a separate RX chain records samples and shows the waveform and spectrum. Together, they provide a testable path toward real-time adaptive sonar on compact AUV hardware.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87132-F64D-4B5A-A756-537CA167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C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C"/>
                </a:solidFill>
                <a:latin typeface="Arial"/>
                <a:ea typeface="Arial"/>
                <a:cs typeface="Arial"/>
              </a:rPr>
              <a:t>WHAT SEANERGY BRINGS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1BE6F-E139-4C5B-80D3-588171C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Water-aware pulse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C08A3-D7FA-4D2D-8EF8-A97CA7CA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626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Five water inputs inform the acoustic model, so pulse settings reflect current conditions instead of a fixed preset.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26F04-384A-42AA-85E1-C652413F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62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Four waveform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E2AE4-5B5A-463E-A965-28514489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151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CW, LFM chirps, geometric sweeps and Barker-13 coding offer different ways to balance range, detail and signal quality.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0A149-0195-49F5-B3B9-D0C296C8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Compact transmitter 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BA4B0-6A70-4C29-9DA7-70CDECC6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676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The ESP32 TX bench proves the embedded path; timer and DMA streaming define the low-power hardware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D4F07-0A5F-479B-9C99-3F37D15B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667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47"/>
                </a:solidFill>
                <a:latin typeface="Arial"/>
                <a:ea typeface="Arial"/>
                <a:cs typeface="Arial"/>
              </a:rPr>
              <a:t>Visible receiver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F58A4-3C7B-4321-8155-2905323A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2017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A separate RX chain captures ADC samples and displays waveform and FFT views for signal inspection and tuning.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9AEA1-D06A-44A5-95BE-E6E53BE3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800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C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C8C"/>
                </a:solidFill>
                <a:latin typeface="Arial"/>
                <a:ea typeface="Arial"/>
                <a:cs typeface="Arial"/>
              </a:rPr>
              <a:t>WHY THE NEED?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60275-B9FC-49FE-BBCD-EA88ABDB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8001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44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447"/>
                </a:solidFill>
                <a:latin typeface="Arial"/>
                <a:ea typeface="Arial"/>
                <a:cs typeface="Arial"/>
              </a:rPr>
              <a:t>PS 26058 asks for a low-power AUV transmitter that changes its waveform in real time. A fixed ping must cross water whose temperature, salinity, depth, pH and suspended particles vary. These conditions change travel time and signal loss, while battery and CPU limits constrain every transmission.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2CC5A-0B2A-49FC-8889-4FCACA70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9818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C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C8C"/>
                </a:solidFill>
                <a:latin typeface="Arial"/>
                <a:ea typeface="Arial"/>
                <a:cs typeface="Arial"/>
              </a:rPr>
              <a:t>WATER CHANGES SOUND SPEED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9525000" y="7381875"/>
          <a:ext xmlns:a="http://schemas.openxmlformats.org/drawingml/2006/main" cx="8001000" cy="2152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67250"/>
                <a:gridCol w="3333750"/>
              </a:tblGrid>
              <a:tr h="538163"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CHANGE IN WATER</a:t>
                      </a:r>
                    </a:p>
                  </a:txBody>
                  <a:tcPr marL="91440" marR="91440" marT="45720" marB="45720">
                    <a:solidFill>
                      <a:srgbClr val="17485A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APPROX. SPEED SHIFT</a:t>
                      </a:r>
                    </a:p>
                  </a:txBody>
                  <a:tcPr marL="91440" marR="91440" marT="45720" marB="45720">
                    <a:solidFill>
                      <a:srgbClr val="17485A"/>
                    </a:solidFill>
                  </a:tcPr>
                </a:tc>
              </a:tr>
              <a:tr h="538163"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 °C temperature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+4.5 m/s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</a:tr>
              <a:tr h="538163"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 ppt salinity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+100 m depth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  <a:tc>
                  <a:txBody>
                    <a:bodyPr wrap="square" lIns="95250" tIns="57150" rIns="76200" bIns="4762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73447"/>
                          </a:solidFill>
                          <a:latin typeface="Arial"/>
                          <a:ea typeface="Arial"/>
                          <a:cs typeface="Arial"/>
                        </a:rPr>
                        <a:t>+1.7 m/s</a:t>
                      </a:r>
                    </a:p>
                  </a:txBody>
                  <a:tcPr marL="91440" marR="91440" marT="45720" marB="45720">
                    <a:solidFill>
                      <a:srgbClr val="F1F8F9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CC423-1B7E-436D-8F0C-67B0C37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858375"/>
            <a:ext cx="1666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8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883"/>
                </a:solidFill>
                <a:latin typeface="Arial"/>
                <a:ea typeface="Arial"/>
                <a:cs typeface="Arial"/>
              </a:rPr>
              <a:t>NOAA sound-speed sensitivities. TX and RX benches are separate; adaptive underwater performance awaits validation.</a:t>
            </a:r>
          </a:p>
        </p:txBody>
      </p:sp>
    </p:spTree>
    <p:extLst>
      <p:ext uri="{BB962C8B-B14F-4D97-AF65-F5344CB8AC3E}">
        <p14:creationId xmlns:p14="http://schemas.microsoft.com/office/powerpoint/2010/main" val="808738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2026-09-27T12:34:33.1620000Z</dcterms:created>
  <dcterms:modified xsi:type="dcterms:W3CDTF">2026-09-27T12:34:33.1620000Z</dcterms:modified>
</coreProperties>
</file>