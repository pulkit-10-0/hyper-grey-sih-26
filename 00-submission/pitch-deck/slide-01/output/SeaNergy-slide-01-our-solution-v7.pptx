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83b4dab0a4f68" /><Relationship Type="http://schemas.openxmlformats.org/officeDocument/2006/relationships/extended-properties" Target="/docProps/app.xml" Id="Rd0aa1bbdcef144b0" /><Relationship Type="http://schemas.openxmlformats.org/officeDocument/2006/relationships/officeDocument" Target="/ppt/presentation.xml" Id="Rf9f179587799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f64fd0e024e84"/>
  </p:sldMasterIdLst>
  <p:notesMasterIdLst>
    <p:notesMasterId xmlns:r="http://schemas.openxmlformats.org/officeDocument/2006/relationships" r:id="R1f708ca0d5be43eb"/>
  </p:notesMasterIdLst>
  <p:sldIdLst>
    <p:sldId xmlns:r="http://schemas.openxmlformats.org/officeDocument/2006/relationships" id="256" r:id="Rf935d806544e444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1883e8910f46e7" /><Relationship Type="http://schemas.openxmlformats.org/officeDocument/2006/relationships/slideMaster" Target="/ppt/slideMasters/slideMaster1.xml" Id="R1f2f64fd0e024e84" /><Relationship Type="http://schemas.openxmlformats.org/officeDocument/2006/relationships/notesMaster" Target="/ppt/notesMasters/notesMaster1.xml" Id="R1f708ca0d5be43eb" /><Relationship Type="http://schemas.openxmlformats.org/officeDocument/2006/relationships/presProps" Target="/ppt/presProps.xml" Id="R6f95d3e68fbb4673" /><Relationship Type="http://schemas.openxmlformats.org/officeDocument/2006/relationships/tableStyles" Target="/ppt/tableStyles.xml" Id="R44bc62043ce04006" /><Relationship Type="http://schemas.openxmlformats.org/officeDocument/2006/relationships/slide" Target="/ppt/slides/slide1.xml" Id="Rf935d806544e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b979a379642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f5ba3c9f64c42" /><Relationship Type="http://schemas.openxmlformats.org/officeDocument/2006/relationships/notesMaster" Target="/ppt/notesMasters/notesMaster1.xml" Id="R14b645d2b13b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 PS 26058 clauses C-01 to C-05 and C-08 in the project's compliance matrix; SeaNergy mobile app 2.2.0 README, adaptation and DSP code for pH/depth and four software waveform modes; TX bench firmware and RX capture firmware/Python viewer. The table's approximate sound-speed sensitivities are from NOAA, https://repository.library.noaa.gov/view/noaa/44869/noaa_44869_DS1.pdf (temperature +4.5 m/s per +1 C, salinity +1.3 m/s per +1 ppt, pressure/depth +1.7 m/s per +100 m). The echo-ranging relationship is described by NOAA NCEI, https://www.ngdc.noaa.gov/mgg/fliers/84mgg18.html. The third column is a simplified calculation for a true 100 m range and uniform actual speed of 1504.5, 1501.3 or 1501.7 m/s against a fixed assumed 1500 m/s: estimated range = 1500 * 100 / actual speed. Rounded absolute errors are 30, 9 and 11 cm. These are illustrative physics estimates, not SeaNergy measurements. The TX and RX benches are separate; adaptive end-to-end underwater operation has not been validated. The AUV hero image is a generated concept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ab09db8c1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452c2d6f54ac3" /><Relationship Type="http://schemas.openxmlformats.org/officeDocument/2006/relationships/slideLayout" Target="/ppt/slideLayouts/slideLayout1.xml" Id="R3b57f04ab8b6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7f04ab8b6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6cd9e4bd4471b" /><Relationship Type="http://schemas.openxmlformats.org/officeDocument/2006/relationships/image" Target="/ppt/media/image.png" Id="R6d2b599e4b484f3e" /><Relationship Type="http://schemas.openxmlformats.org/officeDocument/2006/relationships/notesSlide" Target="/ppt/notesSlides/notesSlide1.xml" Id="Rf6c3c4a1a7774c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b599e4b484f3e"/>
          <a:srcRect xmlns:a="http://schemas.openxmlformats.org/drawingml/2006/main" l="0" t="24169" r="0" b="24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2952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8EE0-4A83-4B60-A5A0-536EE73D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59403-B3F0-4A72-B33A-A32C9C8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62100"/>
            <a:ext cx="1238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6F5F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6F5F6"/>
                </a:solidFill>
                <a:latin typeface="Arial"/>
                <a:ea typeface="Arial"/>
                <a:cs typeface="Arial"/>
              </a:rPr>
              <a:t>Adaptive sonar TX and RX for changing water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9597A-DDEF-4EFB-84E9-06BEB69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923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9D7D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9D7DB"/>
                </a:solidFill>
                <a:latin typeface="Arial"/>
                <a:ea typeface="Arial"/>
                <a:cs typeface="Arial"/>
              </a:rPr>
              <a:t>SIH 2026   |   PS 26058   |   TEAM HYPER GREY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93DE2-AEC5-4476-9E1A-1D37B5F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3632D-7943-4D7F-B206-378C2C85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6573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SeaNergy lets an AUV design its next sonar ping for the water it is actually in. Temperature, salinity, turbidity, pH and depth feed a model that chooses frequency, bandwidth, duration and waveform to balance reach, detail and energy. A TX bench demonstrates acoustic output, while a separate RX chain records samples and shows the waveform and spectrum. Together, they provide a testable path toward real-time adaptive sonar on compact AUV hardware.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E03F8-37C9-460D-9735-1E38E635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WHAT SEANERGY BRINGS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9FED-AE87-4FE4-AD95-81669EA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Water-aware pulse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4CB8D-A227-4858-A645-6FBF49F8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626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Five water inputs inform the acoustic model, so pulse settings reflect current conditions instead of a fixed preset.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903D3-FF06-4FF5-BF65-970EABDB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62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Four waveform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5E2DB-BED6-45F0-99C4-4FA3B112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151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CW, LFM chirps, geometric sweeps and Barker-13 coding offer different ways to balance range, detail and signal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FADE5-78AE-41BB-9FBD-0DEAD300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Compact transmitter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F71D8-B4F4-4A55-B0DF-5B9330F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676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The ESP32 TX bench proves the embedded path; timer and DMA streaming define the low-power hardware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E7A8E-8617-4BC1-85DB-22BFF73A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667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Visible receiver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39FD8-BFA4-4CDE-9B39-4251D5C3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201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A separate RX chain captures ADC samples and displays waveform and FFT views for signal inspection and tuning.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56C01-2137-4116-ADA0-58B5353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WHY THE NEED?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348FC-3959-41E5-A555-7AE3E6F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800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PS 26058 asks for a low-power AUV transmitter that changes its waveform in real time. A fixed ping must cross water whose temperature, salinity, depth, pH and suspended particles vary. These conditions change travel time and signal loss, while battery and CPU limits constrain every transmission.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067E6-CEC4-48D6-A7C4-C517BAA9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9818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FIXED SOUND SPEED CREATES RANGE ERROR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9525000" y="7381875"/>
          <a:ext xmlns:a="http://schemas.openxmlformats.org/drawingml/2006/main" cx="8001000" cy="2152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2286000"/>
                <a:gridCol w="2571750"/>
              </a:tblGrid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WATER CHANGE</a:t>
                      </a:r>
                    </a:p>
                  </a:txBody>
                  <a:tcPr marL="91440" marR="91440" marT="45720" marB="45720">
                    <a:solidFill>
                      <a:srgbClr val="17485A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SPEED SHIFT</a:t>
                      </a:r>
                    </a:p>
                  </a:txBody>
                  <a:tcPr marL="91440" marR="91440" marT="45720" marB="45720">
                    <a:solidFill>
                      <a:srgbClr val="17485A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ERROR AT 100 m*</a:t>
                      </a:r>
                    </a:p>
                  </a:txBody>
                  <a:tcPr marL="91440" marR="91440" marT="45720" marB="45720">
                    <a:solidFill>
                      <a:srgbClr val="17485A"/>
                    </a:solidFill>
                  </a:tcPr>
                </a:tc>
              </a:tr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 °C temperature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+4.5 m/s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30 cm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</a:tr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 ppt salinity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9 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+100 m depth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+1.7 m/s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11 cm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58946-C7EE-428C-A6B2-C049A638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858375"/>
            <a:ext cx="1666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8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883"/>
                </a:solidFill>
                <a:latin typeface="Arial"/>
                <a:ea typeface="Arial"/>
                <a:cs typeface="Arial"/>
              </a:rPr>
              <a:t>*Illustrative error for a true 100 m range with a fixed 1,500 m/s assumption. NOAA sound-speed sensitivities; TX/RX benches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665297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2026-09-27T12:36:45.4560000Z</dcterms:created>
  <dcterms:modified xsi:type="dcterms:W3CDTF">2026-09-27T12:36:45.4560000Z</dcterms:modified>
</coreProperties>
</file>