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a0f47720fad44b2" /><Relationship Type="http://schemas.openxmlformats.org/officeDocument/2006/relationships/extended-properties" Target="/docProps/app.xml" Id="R753d27dfbe6843e2" /><Relationship Type="http://schemas.openxmlformats.org/officeDocument/2006/relationships/officeDocument" Target="/ppt/presentation.xml" Id="Rf6071a30565242c2" /></Relationships>
</file>

<file path=ppt/presentation.xml><?xml version="1.0" encoding="utf-8"?>
<p:presentation xmlns:p="http://schemas.openxmlformats.org/presentationml/2006/main">
  <p:sldMasterIdLst>
    <p:sldMasterId xmlns:r="http://schemas.openxmlformats.org/officeDocument/2006/relationships" id="2147483648" r:id="Rd272a34edf4b408d"/>
  </p:sldMasterIdLst>
  <p:notesMasterIdLst>
    <p:notesMasterId xmlns:r="http://schemas.openxmlformats.org/officeDocument/2006/relationships" r:id="R91d45a88e3d2484e"/>
  </p:notesMasterIdLst>
  <p:sldIdLst>
    <p:sldId xmlns:r="http://schemas.openxmlformats.org/officeDocument/2006/relationships" id="256" r:id="Rf4366ae0cf4e4b8b"/>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bf523cb6228485b" /><Relationship Type="http://schemas.openxmlformats.org/officeDocument/2006/relationships/slideMaster" Target="/ppt/slideMasters/slideMaster1.xml" Id="Rd272a34edf4b408d" /><Relationship Type="http://schemas.openxmlformats.org/officeDocument/2006/relationships/notesMaster" Target="/ppt/notesMasters/notesMaster1.xml" Id="R91d45a88e3d2484e" /><Relationship Type="http://schemas.openxmlformats.org/officeDocument/2006/relationships/presProps" Target="/ppt/presProps.xml" Id="R7468339c005040a5" /><Relationship Type="http://schemas.openxmlformats.org/officeDocument/2006/relationships/tableStyles" Target="/ppt/tableStyles.xml" Id="Rcae5785176834b64" /><Relationship Type="http://schemas.openxmlformats.org/officeDocument/2006/relationships/slide" Target="/ppt/slides/slide1.xml" Id="Rf4366ae0cf4e4b8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8e82c0d86c0423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77548a846734ca1" /><Relationship Type="http://schemas.openxmlformats.org/officeDocument/2006/relationships/notesMaster" Target="/ppt/notesMasters/notesMaster1.xml" Id="R35cdaa6fa470423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SeaNergy mobile app 2.2.0 README and adaptation code for pH/depth; TX bench firmware and RX capture firmware/Python viewer; compliance matrix C-05 for modelled 5-to-1,000 NTU sweep. The five water inputs include temperature, TDS/salinity, turbidity, pH and depth. Current repository TX and RX benches are separate; adaptive end-to-end underwater operation has not been validated. Numeric table values are modelled, not tank measurements. The AUV hero image is a generated concept illustration, not a photograph of the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cee8a57f7564ba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fb6d3215419462f" /><Relationship Type="http://schemas.openxmlformats.org/officeDocument/2006/relationships/slideLayout" Target="/ppt/slideLayouts/slideLayout1.xml" Id="Reb4d3b6851184ef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b4d3b6851184ef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2531ee05ec04171" /><Relationship Type="http://schemas.openxmlformats.org/officeDocument/2006/relationships/image" Target="/ppt/media/image.png" Id="Rb4bcfaab9fa04e8f" /><Relationship Type="http://schemas.openxmlformats.org/officeDocument/2006/relationships/notesSlide" Target="/ppt/notesSlides/notesSlide1.xml" Id="R4fa38f114af4445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b4bcfaab9fa04e8f"/>
          <a:srcRect xmlns:a="http://schemas.openxmlformats.org/drawingml/2006/main" l="0" t="24169" r="0" b="24169"/>
          <a:stretch xmlns:a="http://schemas.openxmlformats.org/drawingml/2006/main">
            <a:fillRect l="0" t="0" r="0" b="0"/>
          </a:stretch>
        </p:blipFill>
        <p:spPr>
          <a:xfrm xmlns:a="http://schemas.openxmlformats.org/drawingml/2006/main">
            <a:off x="0" y="0"/>
            <a:ext cx="18288000" cy="29527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F27013A-215C-4341-A7AA-B324AB31BAC9}"/>
              </a:ext>
            </a:extLst>
          </p:cNvPr>
          <p:cNvSpPr>
            <a:spLocks xmlns:a="http://schemas.openxmlformats.org/drawingml/2006/main" noGrp="1"/>
          </p:cNvSpPr>
          <p:nvPr/>
        </p:nvSpPr>
        <p:spPr>
          <a:xfrm xmlns:a="http://schemas.openxmlformats.org/drawingml/2006/main">
            <a:off x="838200" y="600075"/>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700" b="1">
                <a:solidFill>
                  <a:srgbClr val="FFFFFF"/>
                </a:solidFill>
                <a:latin typeface="Arial"/>
                <a:ea typeface="Arial"/>
                <a:cs typeface="Arial"/>
              </a:defRPr>
            </a:pPr>
            <a:r>
              <a:rPr sz="5700" b="1">
                <a:solidFill>
                  <a:srgbClr val="FFFFFF"/>
                </a:solidFill>
                <a:latin typeface="Arial"/>
                <a:ea typeface="Arial"/>
                <a:cs typeface="Arial"/>
              </a:rPr>
              <a:t>SeaNergy</a:t>
            </a:r>
          </a:p>
        </p:txBody>
      </p:sp>
      <p:sp>
        <p:nvSpPr>
          <p:cNvPr id="3" name="">
            <a:extLst xmlns:a="http://schemas.openxmlformats.org/drawingml/2006/main">
              <a:ext uri="{FF2B5EF4-FFF2-40B4-BE49-F238E27FC236}">
                <a16:creationId xmlns:a16="http://schemas.microsoft.com/office/drawing/2014/main" id="{1F75EA85-C292-4DE2-A203-ECF78B44111A}"/>
              </a:ext>
            </a:extLst>
          </p:cNvPr>
          <p:cNvSpPr>
            <a:spLocks xmlns:a="http://schemas.openxmlformats.org/drawingml/2006/main" noGrp="1"/>
          </p:cNvSpPr>
          <p:nvPr/>
        </p:nvSpPr>
        <p:spPr>
          <a:xfrm xmlns:a="http://schemas.openxmlformats.org/drawingml/2006/main">
            <a:off x="885825" y="1562100"/>
            <a:ext cx="1238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0">
                <a:solidFill>
                  <a:srgbClr val="D6F5F6"/>
                </a:solidFill>
                <a:latin typeface="Arial"/>
                <a:ea typeface="Arial"/>
                <a:cs typeface="Arial"/>
              </a:defRPr>
            </a:pPr>
            <a:r>
              <a:rPr sz="2625" b="0">
                <a:solidFill>
                  <a:srgbClr val="D6F5F6"/>
                </a:solidFill>
                <a:latin typeface="Arial"/>
                <a:ea typeface="Arial"/>
                <a:cs typeface="Arial"/>
              </a:rPr>
              <a:t>Adaptive sonar TX and RX for changing water</a:t>
            </a:r>
          </a:p>
        </p:txBody>
      </p:sp>
      <p:sp>
        <p:nvSpPr>
          <p:cNvPr id="4" name="">
            <a:extLst xmlns:a="http://schemas.openxmlformats.org/drawingml/2006/main">
              <a:ext uri="{FF2B5EF4-FFF2-40B4-BE49-F238E27FC236}">
                <a16:creationId xmlns:a16="http://schemas.microsoft.com/office/drawing/2014/main" id="{D20A5127-31E8-4E8D-BA62-BB82D4D816F8}"/>
              </a:ext>
            </a:extLst>
          </p:cNvPr>
          <p:cNvSpPr>
            <a:spLocks xmlns:a="http://schemas.openxmlformats.org/drawingml/2006/main" noGrp="1"/>
          </p:cNvSpPr>
          <p:nvPr/>
        </p:nvSpPr>
        <p:spPr>
          <a:xfrm xmlns:a="http://schemas.openxmlformats.org/drawingml/2006/main">
            <a:off x="904875" y="2438400"/>
            <a:ext cx="9239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89D7DB"/>
                </a:solidFill>
                <a:latin typeface="Arial"/>
                <a:ea typeface="Arial"/>
                <a:cs typeface="Arial"/>
              </a:defRPr>
            </a:pPr>
            <a:r>
              <a:rPr sz="1575" b="1">
                <a:solidFill>
                  <a:srgbClr val="89D7DB"/>
                </a:solidFill>
                <a:latin typeface="Arial"/>
                <a:ea typeface="Arial"/>
                <a:cs typeface="Arial"/>
              </a:rPr>
              <a:t>SIH 2026   |   PS 26058   |   TEAM HYPER GREY</a:t>
            </a:r>
          </a:p>
        </p:txBody>
      </p:sp>
      <p:sp>
        <p:nvSpPr>
          <p:cNvPr id="5" name="">
            <a:extLst xmlns:a="http://schemas.openxmlformats.org/drawingml/2006/main">
              <a:ext uri="{FF2B5EF4-FFF2-40B4-BE49-F238E27FC236}">
                <a16:creationId xmlns:a16="http://schemas.microsoft.com/office/drawing/2014/main" id="{585EC7F7-4879-4F41-9E61-898A354D6CC0}"/>
              </a:ext>
            </a:extLst>
          </p:cNvPr>
          <p:cNvSpPr>
            <a:spLocks xmlns:a="http://schemas.openxmlformats.org/drawingml/2006/main" noGrp="1"/>
          </p:cNvSpPr>
          <p:nvPr/>
        </p:nvSpPr>
        <p:spPr>
          <a:xfrm xmlns:a="http://schemas.openxmlformats.org/drawingml/2006/main">
            <a:off x="857250" y="3248025"/>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087C8C"/>
                </a:solidFill>
                <a:latin typeface="Arial"/>
                <a:ea typeface="Arial"/>
                <a:cs typeface="Arial"/>
              </a:defRPr>
            </a:pPr>
            <a:r>
              <a:rPr sz="1800" b="1">
                <a:solidFill>
                  <a:srgbClr val="087C8C"/>
                </a:solidFill>
                <a:latin typeface="Arial"/>
                <a:ea typeface="Arial"/>
                <a:cs typeface="Arial"/>
              </a:rPr>
              <a:t>PROPOSED SOLUTION</a:t>
            </a:r>
          </a:p>
        </p:txBody>
      </p:sp>
      <p:sp>
        <p:nvSpPr>
          <p:cNvPr id="6" name="">
            <a:extLst xmlns:a="http://schemas.openxmlformats.org/drawingml/2006/main">
              <a:ext uri="{FF2B5EF4-FFF2-40B4-BE49-F238E27FC236}">
                <a16:creationId xmlns:a16="http://schemas.microsoft.com/office/drawing/2014/main" id="{09B0D602-C5ED-4C33-9B83-A16E985DB071}"/>
              </a:ext>
            </a:extLst>
          </p:cNvPr>
          <p:cNvSpPr>
            <a:spLocks xmlns:a="http://schemas.openxmlformats.org/drawingml/2006/main" noGrp="1"/>
          </p:cNvSpPr>
          <p:nvPr/>
        </p:nvSpPr>
        <p:spPr>
          <a:xfrm xmlns:a="http://schemas.openxmlformats.org/drawingml/2006/main">
            <a:off x="857250" y="3667125"/>
            <a:ext cx="1657350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3447"/>
                </a:solidFill>
                <a:latin typeface="Arial"/>
                <a:ea typeface="Arial"/>
                <a:cs typeface="Arial"/>
              </a:defRPr>
            </a:pPr>
            <a:r>
              <a:rPr sz="2250" b="0">
                <a:solidFill>
                  <a:srgbClr val="173447"/>
                </a:solidFill>
                <a:latin typeface="Arial"/>
                <a:ea typeface="Arial"/>
                <a:cs typeface="Arial"/>
              </a:rPr>
              <a:t>SeaNergy is a sensor-informed TX/RX sonar system for AUVs. Five water inputs guide software selection of frequency, bandwidth, duration and waveform. The transmitter drives an acoustic element, while a separate receiver captures ADC samples for waveform and FFT analysis. Both sides are visible, from the chosen pulse to the received signal.</a:t>
            </a:r>
          </a:p>
        </p:txBody>
      </p:sp>
      <p:sp>
        <p:nvSpPr>
          <p:cNvPr id="7" name="">
            <a:extLst xmlns:a="http://schemas.openxmlformats.org/drawingml/2006/main">
              <a:ext uri="{FF2B5EF4-FFF2-40B4-BE49-F238E27FC236}">
                <a16:creationId xmlns:a16="http://schemas.microsoft.com/office/drawing/2014/main" id="{CDE8655E-CAD5-4020-A1B0-302CE78C7769}"/>
              </a:ext>
            </a:extLst>
          </p:cNvPr>
          <p:cNvSpPr>
            <a:spLocks xmlns:a="http://schemas.openxmlformats.org/drawingml/2006/main" noGrp="1"/>
          </p:cNvSpPr>
          <p:nvPr/>
        </p:nvSpPr>
        <p:spPr>
          <a:xfrm xmlns:a="http://schemas.openxmlformats.org/drawingml/2006/main">
            <a:off x="857250" y="5219700"/>
            <a:ext cx="7810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C8C"/>
                </a:solidFill>
                <a:latin typeface="Arial"/>
                <a:ea typeface="Arial"/>
                <a:cs typeface="Arial"/>
              </a:defRPr>
            </a:pPr>
            <a:r>
              <a:rPr sz="2025" b="1">
                <a:solidFill>
                  <a:srgbClr val="087C8C"/>
                </a:solidFill>
                <a:latin typeface="Arial"/>
                <a:ea typeface="Arial"/>
                <a:cs typeface="Arial"/>
              </a:rPr>
              <a:t>FROM WATER TO PING</a:t>
            </a:r>
          </a:p>
        </p:txBody>
      </p:sp>
      <p:sp>
        <p:nvSpPr>
          <p:cNvPr id="8" name="">
            <a:extLst xmlns:a="http://schemas.openxmlformats.org/drawingml/2006/main">
              <a:ext uri="{FF2B5EF4-FFF2-40B4-BE49-F238E27FC236}">
                <a16:creationId xmlns:a16="http://schemas.microsoft.com/office/drawing/2014/main" id="{2511FE35-C2E1-4C50-8BBD-476D1E155301}"/>
              </a:ext>
            </a:extLst>
          </p:cNvPr>
          <p:cNvSpPr>
            <a:spLocks xmlns:a="http://schemas.openxmlformats.org/drawingml/2006/main" noGrp="1"/>
          </p:cNvSpPr>
          <p:nvPr/>
        </p:nvSpPr>
        <p:spPr>
          <a:xfrm xmlns:a="http://schemas.openxmlformats.org/drawingml/2006/main">
            <a:off x="857250" y="5810250"/>
            <a:ext cx="552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87C8C"/>
                </a:solidFill>
                <a:latin typeface="Arial"/>
                <a:ea typeface="Arial"/>
                <a:cs typeface="Arial"/>
              </a:defRPr>
            </a:pPr>
            <a:r>
              <a:rPr sz="1950" b="1">
                <a:solidFill>
                  <a:srgbClr val="087C8C"/>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3E112404-8D0A-4916-8D27-C574C9202324}"/>
              </a:ext>
            </a:extLst>
          </p:cNvPr>
          <p:cNvSpPr>
            <a:spLocks xmlns:a="http://schemas.openxmlformats.org/drawingml/2006/main" noGrp="1"/>
          </p:cNvSpPr>
          <p:nvPr/>
        </p:nvSpPr>
        <p:spPr>
          <a:xfrm xmlns:a="http://schemas.openxmlformats.org/drawingml/2006/main">
            <a:off x="1495425" y="5810250"/>
            <a:ext cx="752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73447"/>
                </a:solidFill>
                <a:latin typeface="Arial"/>
                <a:ea typeface="Arial"/>
                <a:cs typeface="Arial"/>
              </a:defRPr>
            </a:pPr>
            <a:r>
              <a:rPr sz="1950" b="1">
                <a:solidFill>
                  <a:srgbClr val="173447"/>
                </a:solidFill>
                <a:latin typeface="Arial"/>
                <a:ea typeface="Arial"/>
                <a:cs typeface="Arial"/>
              </a:rPr>
              <a:t>Sense five conditions</a:t>
            </a:r>
          </a:p>
        </p:txBody>
      </p:sp>
      <p:sp>
        <p:nvSpPr>
          <p:cNvPr id="10" name="">
            <a:extLst xmlns:a="http://schemas.openxmlformats.org/drawingml/2006/main">
              <a:ext uri="{FF2B5EF4-FFF2-40B4-BE49-F238E27FC236}">
                <a16:creationId xmlns:a16="http://schemas.microsoft.com/office/drawing/2014/main" id="{1D3359CD-C84E-489C-9D96-27E8D04F7B30}"/>
              </a:ext>
            </a:extLst>
          </p:cNvPr>
          <p:cNvSpPr>
            <a:spLocks xmlns:a="http://schemas.openxmlformats.org/drawingml/2006/main" noGrp="1"/>
          </p:cNvSpPr>
          <p:nvPr/>
        </p:nvSpPr>
        <p:spPr>
          <a:xfrm xmlns:a="http://schemas.openxmlformats.org/drawingml/2006/main">
            <a:off x="1495425" y="6162675"/>
            <a:ext cx="723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D6573"/>
                </a:solidFill>
                <a:latin typeface="Arial"/>
                <a:ea typeface="Arial"/>
                <a:cs typeface="Arial"/>
              </a:defRPr>
            </a:pPr>
            <a:r>
              <a:rPr sz="1650" b="0">
                <a:solidFill>
                  <a:srgbClr val="4D6573"/>
                </a:solidFill>
                <a:latin typeface="Arial"/>
                <a:ea typeface="Arial"/>
                <a:cs typeface="Arial"/>
              </a:rPr>
              <a:t>Temperature, TDS/salinity, turbidity, pH and depth feed the water model.</a:t>
            </a:r>
          </a:p>
        </p:txBody>
      </p:sp>
      <p:sp>
        <p:nvSpPr>
          <p:cNvPr id="11" name="">
            <a:extLst xmlns:a="http://schemas.openxmlformats.org/drawingml/2006/main">
              <a:ext uri="{FF2B5EF4-FFF2-40B4-BE49-F238E27FC236}">
                <a16:creationId xmlns:a16="http://schemas.microsoft.com/office/drawing/2014/main" id="{37C1D049-D740-4503-9465-973961636273}"/>
              </a:ext>
            </a:extLst>
          </p:cNvPr>
          <p:cNvSpPr>
            <a:spLocks xmlns:a="http://schemas.openxmlformats.org/drawingml/2006/main" noGrp="1"/>
          </p:cNvSpPr>
          <p:nvPr/>
        </p:nvSpPr>
        <p:spPr>
          <a:xfrm xmlns:a="http://schemas.openxmlformats.org/drawingml/2006/main">
            <a:off x="857250" y="6762750"/>
            <a:ext cx="552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87C8C"/>
                </a:solidFill>
                <a:latin typeface="Arial"/>
                <a:ea typeface="Arial"/>
                <a:cs typeface="Arial"/>
              </a:defRPr>
            </a:pPr>
            <a:r>
              <a:rPr sz="1950" b="1">
                <a:solidFill>
                  <a:srgbClr val="087C8C"/>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EBE1886D-D0B3-4343-8D70-214AD394B904}"/>
              </a:ext>
            </a:extLst>
          </p:cNvPr>
          <p:cNvSpPr>
            <a:spLocks xmlns:a="http://schemas.openxmlformats.org/drawingml/2006/main" noGrp="1"/>
          </p:cNvSpPr>
          <p:nvPr/>
        </p:nvSpPr>
        <p:spPr>
          <a:xfrm xmlns:a="http://schemas.openxmlformats.org/drawingml/2006/main">
            <a:off x="1495425" y="6762750"/>
            <a:ext cx="752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73447"/>
                </a:solidFill>
                <a:latin typeface="Arial"/>
                <a:ea typeface="Arial"/>
                <a:cs typeface="Arial"/>
              </a:defRPr>
            </a:pPr>
            <a:r>
              <a:rPr sz="1950" b="1">
                <a:solidFill>
                  <a:srgbClr val="173447"/>
                </a:solidFill>
                <a:latin typeface="Arial"/>
                <a:ea typeface="Arial"/>
                <a:cs typeface="Arial"/>
              </a:rPr>
              <a:t>Adapt the TX pulse</a:t>
            </a:r>
          </a:p>
        </p:txBody>
      </p:sp>
      <p:sp>
        <p:nvSpPr>
          <p:cNvPr id="13" name="">
            <a:extLst xmlns:a="http://schemas.openxmlformats.org/drawingml/2006/main">
              <a:ext uri="{FF2B5EF4-FFF2-40B4-BE49-F238E27FC236}">
                <a16:creationId xmlns:a16="http://schemas.microsoft.com/office/drawing/2014/main" id="{F9B38848-AEB6-4706-8FEF-BB1B6A08BB7F}"/>
              </a:ext>
            </a:extLst>
          </p:cNvPr>
          <p:cNvSpPr>
            <a:spLocks xmlns:a="http://schemas.openxmlformats.org/drawingml/2006/main" noGrp="1"/>
          </p:cNvSpPr>
          <p:nvPr/>
        </p:nvSpPr>
        <p:spPr>
          <a:xfrm xmlns:a="http://schemas.openxmlformats.org/drawingml/2006/main">
            <a:off x="1495425" y="7115175"/>
            <a:ext cx="723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D6573"/>
                </a:solidFill>
                <a:latin typeface="Arial"/>
                <a:ea typeface="Arial"/>
                <a:cs typeface="Arial"/>
              </a:defRPr>
            </a:pPr>
            <a:r>
              <a:rPr sz="1650" b="0">
                <a:solidFill>
                  <a:srgbClr val="4D6573"/>
                </a:solidFill>
                <a:latin typeface="Arial"/>
                <a:ea typeface="Arial"/>
                <a:cs typeface="Arial"/>
              </a:rPr>
              <a:t>The solver scores frequency, bandwidth, duration and level; four waveform modes run in software.</a:t>
            </a:r>
          </a:p>
        </p:txBody>
      </p:sp>
      <p:sp>
        <p:nvSpPr>
          <p:cNvPr id="14" name="">
            <a:extLst xmlns:a="http://schemas.openxmlformats.org/drawingml/2006/main">
              <a:ext uri="{FF2B5EF4-FFF2-40B4-BE49-F238E27FC236}">
                <a16:creationId xmlns:a16="http://schemas.microsoft.com/office/drawing/2014/main" id="{69D30C6F-5730-4385-B586-C4440F452E26}"/>
              </a:ext>
            </a:extLst>
          </p:cNvPr>
          <p:cNvSpPr>
            <a:spLocks xmlns:a="http://schemas.openxmlformats.org/drawingml/2006/main" noGrp="1"/>
          </p:cNvSpPr>
          <p:nvPr/>
        </p:nvSpPr>
        <p:spPr>
          <a:xfrm xmlns:a="http://schemas.openxmlformats.org/drawingml/2006/main">
            <a:off x="857250" y="7715250"/>
            <a:ext cx="552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87C8C"/>
                </a:solidFill>
                <a:latin typeface="Arial"/>
                <a:ea typeface="Arial"/>
                <a:cs typeface="Arial"/>
              </a:defRPr>
            </a:pPr>
            <a:r>
              <a:rPr sz="1950" b="1">
                <a:solidFill>
                  <a:srgbClr val="087C8C"/>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886C261D-C4DB-4585-B33C-98DDC7FC9F79}"/>
              </a:ext>
            </a:extLst>
          </p:cNvPr>
          <p:cNvSpPr>
            <a:spLocks xmlns:a="http://schemas.openxmlformats.org/drawingml/2006/main" noGrp="1"/>
          </p:cNvSpPr>
          <p:nvPr/>
        </p:nvSpPr>
        <p:spPr>
          <a:xfrm xmlns:a="http://schemas.openxmlformats.org/drawingml/2006/main">
            <a:off x="1495425" y="7715250"/>
            <a:ext cx="752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73447"/>
                </a:solidFill>
                <a:latin typeface="Arial"/>
                <a:ea typeface="Arial"/>
                <a:cs typeface="Arial"/>
              </a:defRPr>
            </a:pPr>
            <a:r>
              <a:rPr sz="1950" b="1">
                <a:solidFill>
                  <a:srgbClr val="173447"/>
                </a:solidFill>
                <a:latin typeface="Arial"/>
                <a:ea typeface="Arial"/>
                <a:cs typeface="Arial"/>
              </a:rPr>
              <a:t>Transmit the signal</a:t>
            </a:r>
          </a:p>
        </p:txBody>
      </p:sp>
      <p:sp>
        <p:nvSpPr>
          <p:cNvPr id="16" name="">
            <a:extLst xmlns:a="http://schemas.openxmlformats.org/drawingml/2006/main">
              <a:ext uri="{FF2B5EF4-FFF2-40B4-BE49-F238E27FC236}">
                <a16:creationId xmlns:a16="http://schemas.microsoft.com/office/drawing/2014/main" id="{7B736511-0B65-4895-AEF1-AFD2983D31B9}"/>
              </a:ext>
            </a:extLst>
          </p:cNvPr>
          <p:cNvSpPr>
            <a:spLocks xmlns:a="http://schemas.openxmlformats.org/drawingml/2006/main" noGrp="1"/>
          </p:cNvSpPr>
          <p:nvPr/>
        </p:nvSpPr>
        <p:spPr>
          <a:xfrm xmlns:a="http://schemas.openxmlformats.org/drawingml/2006/main">
            <a:off x="1495425" y="8067675"/>
            <a:ext cx="723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D6573"/>
                </a:solidFill>
                <a:latin typeface="Arial"/>
                <a:ea typeface="Arial"/>
                <a:cs typeface="Arial"/>
              </a:defRPr>
            </a:pPr>
            <a:r>
              <a:rPr sz="1650" b="0">
                <a:solidFill>
                  <a:srgbClr val="4D6573"/>
                </a:solidFill>
                <a:latin typeface="Arial"/>
                <a:ea typeface="Arial"/>
                <a:cs typeface="Arial"/>
              </a:rPr>
              <a:t>The TX bench path drives an acoustic element. Adaptive DDS/DMA output remains a scope target.</a:t>
            </a:r>
          </a:p>
        </p:txBody>
      </p:sp>
      <p:sp>
        <p:nvSpPr>
          <p:cNvPr id="17" name="">
            <a:extLst xmlns:a="http://schemas.openxmlformats.org/drawingml/2006/main">
              <a:ext uri="{FF2B5EF4-FFF2-40B4-BE49-F238E27FC236}">
                <a16:creationId xmlns:a16="http://schemas.microsoft.com/office/drawing/2014/main" id="{58C41E6F-CDF9-4226-B920-5C620D7BC5CF}"/>
              </a:ext>
            </a:extLst>
          </p:cNvPr>
          <p:cNvSpPr>
            <a:spLocks xmlns:a="http://schemas.openxmlformats.org/drawingml/2006/main" noGrp="1"/>
          </p:cNvSpPr>
          <p:nvPr/>
        </p:nvSpPr>
        <p:spPr>
          <a:xfrm xmlns:a="http://schemas.openxmlformats.org/drawingml/2006/main">
            <a:off x="857250" y="8667750"/>
            <a:ext cx="552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87C8C"/>
                </a:solidFill>
                <a:latin typeface="Arial"/>
                <a:ea typeface="Arial"/>
                <a:cs typeface="Arial"/>
              </a:defRPr>
            </a:pPr>
            <a:r>
              <a:rPr sz="1950" b="1">
                <a:solidFill>
                  <a:srgbClr val="087C8C"/>
                </a:solidFill>
                <a:latin typeface="Arial"/>
                <a:ea typeface="Arial"/>
                <a:cs typeface="Arial"/>
              </a:rPr>
              <a:t>04</a:t>
            </a:r>
          </a:p>
        </p:txBody>
      </p:sp>
      <p:sp>
        <p:nvSpPr>
          <p:cNvPr id="18" name="">
            <a:extLst xmlns:a="http://schemas.openxmlformats.org/drawingml/2006/main">
              <a:ext uri="{FF2B5EF4-FFF2-40B4-BE49-F238E27FC236}">
                <a16:creationId xmlns:a16="http://schemas.microsoft.com/office/drawing/2014/main" id="{E789743E-D1DC-4ECC-B9F8-B6CE2541C81F}"/>
              </a:ext>
            </a:extLst>
          </p:cNvPr>
          <p:cNvSpPr>
            <a:spLocks xmlns:a="http://schemas.openxmlformats.org/drawingml/2006/main" noGrp="1"/>
          </p:cNvSpPr>
          <p:nvPr/>
        </p:nvSpPr>
        <p:spPr>
          <a:xfrm xmlns:a="http://schemas.openxmlformats.org/drawingml/2006/main">
            <a:off x="1495425" y="8667750"/>
            <a:ext cx="752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73447"/>
                </a:solidFill>
                <a:latin typeface="Arial"/>
                <a:ea typeface="Arial"/>
                <a:cs typeface="Arial"/>
              </a:defRPr>
            </a:pPr>
            <a:r>
              <a:rPr sz="1950" b="1">
                <a:solidFill>
                  <a:srgbClr val="173447"/>
                </a:solidFill>
                <a:latin typeface="Arial"/>
                <a:ea typeface="Arial"/>
                <a:cs typeface="Arial"/>
              </a:rPr>
              <a:t>Capture and analyse RX</a:t>
            </a:r>
          </a:p>
        </p:txBody>
      </p:sp>
      <p:sp>
        <p:nvSpPr>
          <p:cNvPr id="19" name="">
            <a:extLst xmlns:a="http://schemas.openxmlformats.org/drawingml/2006/main">
              <a:ext uri="{FF2B5EF4-FFF2-40B4-BE49-F238E27FC236}">
                <a16:creationId xmlns:a16="http://schemas.microsoft.com/office/drawing/2014/main" id="{D69EDB89-0E80-4DEB-B95E-0CDA1F303DAB}"/>
              </a:ext>
            </a:extLst>
          </p:cNvPr>
          <p:cNvSpPr>
            <a:spLocks xmlns:a="http://schemas.openxmlformats.org/drawingml/2006/main" noGrp="1"/>
          </p:cNvSpPr>
          <p:nvPr/>
        </p:nvSpPr>
        <p:spPr>
          <a:xfrm xmlns:a="http://schemas.openxmlformats.org/drawingml/2006/main">
            <a:off x="1495425" y="9020175"/>
            <a:ext cx="723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D6573"/>
                </a:solidFill>
                <a:latin typeface="Arial"/>
                <a:ea typeface="Arial"/>
                <a:cs typeface="Arial"/>
              </a:defRPr>
            </a:pPr>
            <a:r>
              <a:rPr sz="1650" b="0">
                <a:solidFill>
                  <a:srgbClr val="4D6573"/>
                </a:solidFill>
                <a:latin typeface="Arial"/>
                <a:ea typeface="Arial"/>
                <a:cs typeface="Arial"/>
              </a:rPr>
              <a:t>The receiver records 4,096 ADC samples per frame, then displays the waveform and FFT.</a:t>
            </a:r>
          </a:p>
        </p:txBody>
      </p:sp>
      <p:sp>
        <p:nvSpPr>
          <p:cNvPr id="20" name="">
            <a:extLst xmlns:a="http://schemas.openxmlformats.org/drawingml/2006/main">
              <a:ext uri="{FF2B5EF4-FFF2-40B4-BE49-F238E27FC236}">
                <a16:creationId xmlns:a16="http://schemas.microsoft.com/office/drawing/2014/main" id="{32A8BB87-D688-41F2-B7BE-C60297C665FE}"/>
              </a:ext>
            </a:extLst>
          </p:cNvPr>
          <p:cNvSpPr>
            <a:spLocks xmlns:a="http://schemas.openxmlformats.org/drawingml/2006/main" noGrp="1"/>
          </p:cNvSpPr>
          <p:nvPr/>
        </p:nvSpPr>
        <p:spPr>
          <a:xfrm xmlns:a="http://schemas.openxmlformats.org/drawingml/2006/main">
            <a:off x="9525000" y="5219700"/>
            <a:ext cx="8001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C8C"/>
                </a:solidFill>
                <a:latin typeface="Arial"/>
                <a:ea typeface="Arial"/>
                <a:cs typeface="Arial"/>
              </a:defRPr>
            </a:pPr>
            <a:r>
              <a:rPr sz="2025" b="1">
                <a:solidFill>
                  <a:srgbClr val="087C8C"/>
                </a:solidFill>
                <a:latin typeface="Arial"/>
                <a:ea typeface="Arial"/>
                <a:cs typeface="Arial"/>
              </a:rPr>
              <a:t>WHY THE NEED?</a:t>
            </a:r>
          </a:p>
        </p:txBody>
      </p:sp>
      <p:sp>
        <p:nvSpPr>
          <p:cNvPr id="21" name="">
            <a:extLst xmlns:a="http://schemas.openxmlformats.org/drawingml/2006/main">
              <a:ext uri="{FF2B5EF4-FFF2-40B4-BE49-F238E27FC236}">
                <a16:creationId xmlns:a16="http://schemas.microsoft.com/office/drawing/2014/main" id="{634221B7-8A94-499D-BD81-1B20EA895438}"/>
              </a:ext>
            </a:extLst>
          </p:cNvPr>
          <p:cNvSpPr>
            <a:spLocks xmlns:a="http://schemas.openxmlformats.org/drawingml/2006/main" noGrp="1"/>
          </p:cNvSpPr>
          <p:nvPr/>
        </p:nvSpPr>
        <p:spPr>
          <a:xfrm xmlns:a="http://schemas.openxmlformats.org/drawingml/2006/main">
            <a:off x="9525000" y="5638800"/>
            <a:ext cx="8001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73447"/>
                </a:solidFill>
                <a:latin typeface="Arial"/>
                <a:ea typeface="Arial"/>
                <a:cs typeface="Arial"/>
              </a:defRPr>
            </a:pPr>
            <a:r>
              <a:rPr sz="1800" b="0">
                <a:solidFill>
                  <a:srgbClr val="173447"/>
                </a:solidFill>
                <a:latin typeface="Arial"/>
                <a:ea typeface="Arial"/>
                <a:cs typeface="Arial"/>
              </a:rPr>
              <a:t>An AUV crosses water whose temperature, salinity, turbidity, pH and depth vary. These affect sound speed, absorption and scattering, so one preset ping cannot always balance range, detail and energy. Receiving the echo lets us inspect how the chosen pulse behaved.</a:t>
            </a:r>
          </a:p>
        </p:txBody>
      </p:sp>
      <p:sp>
        <p:nvSpPr>
          <p:cNvPr id="22" name="">
            <a:extLst xmlns:a="http://schemas.openxmlformats.org/drawingml/2006/main">
              <a:ext uri="{FF2B5EF4-FFF2-40B4-BE49-F238E27FC236}">
                <a16:creationId xmlns:a16="http://schemas.microsoft.com/office/drawing/2014/main" id="{589678F9-FF9D-40A8-B024-B9915C4F1CFC}"/>
              </a:ext>
            </a:extLst>
          </p:cNvPr>
          <p:cNvSpPr>
            <a:spLocks xmlns:a="http://schemas.openxmlformats.org/drawingml/2006/main" noGrp="1"/>
          </p:cNvSpPr>
          <p:nvPr/>
        </p:nvSpPr>
        <p:spPr>
          <a:xfrm xmlns:a="http://schemas.openxmlformats.org/drawingml/2006/main">
            <a:off x="9525000" y="6981825"/>
            <a:ext cx="800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87C8C"/>
                </a:solidFill>
                <a:latin typeface="Arial"/>
                <a:ea typeface="Arial"/>
                <a:cs typeface="Arial"/>
              </a:defRPr>
            </a:pPr>
            <a:r>
              <a:rPr sz="1950" b="1">
                <a:solidFill>
                  <a:srgbClr val="087C8C"/>
                </a:solidFill>
                <a:latin typeface="Arial"/>
                <a:ea typeface="Arial"/>
                <a:cs typeface="Arial"/>
              </a:rPr>
              <a:t>MODELLED RESPONSE: 5 TO 1,000 NTU</a:t>
            </a:r>
          </a:p>
        </p:txBody>
      </p:sp>
      <p:graphicFrame>
        <p:nvGraphicFramePr>
          <p:cNvPr id="47" name=""/>
          <p:cNvGraphicFramePr/>
          <p:nvPr/>
        </p:nvGraphicFramePr>
        <p:xfrm>
          <a:off xmlns:a="http://schemas.openxmlformats.org/drawingml/2006/main" x="9525000" y="7381875"/>
          <a:ext xmlns:a="http://schemas.openxmlformats.org/drawingml/2006/main" cx="8001000" cy="2152650"/>
        </p:xfrm>
        <a:graphic xmlns:a="http://schemas.openxmlformats.org/drawingml/2006/main">
          <a:graphicData uri="http://schemas.openxmlformats.org/drawingml/2006/table">
            <a:tbl>
              <a:tblPr firstRow="1" bandRow="0"/>
              <a:tblGrid>
                <a:gridCol w="3238500"/>
                <a:gridCol w="2381250"/>
                <a:gridCol w="2381250"/>
              </a:tblGrid>
              <a:tr h="538163">
                <a:tc>
                  <a:txBody>
                    <a:bodyPr wrap="square" lIns="95250" tIns="57150" rIns="76200" bIns="47625">
                      <a:noAutofit/>
                    </a:bodyPr>
                    <a:lstStyle/>
                    <a:p>
                      <a:pPr algn="l"/>
                      <a:r>
                        <a:rPr sz="1425" b="1">
                          <a:solidFill>
                            <a:srgbClr val="FFFFFF"/>
                          </a:solidFill>
                          <a:latin typeface="Arial"/>
                          <a:ea typeface="Arial"/>
                          <a:cs typeface="Arial"/>
                        </a:rPr>
                        <a:t>PARAMETER</a:t>
                      </a:r>
                    </a:p>
                  </a:txBody>
                  <a:tcPr marL="91440" marR="91440" marT="45720" marB="45720">
                    <a:solidFill>
                      <a:srgbClr val="17485A"/>
                    </a:solidFill>
                  </a:tcPr>
                </a:tc>
                <a:tc>
                  <a:txBody>
                    <a:bodyPr wrap="square" lIns="95250" tIns="57150" rIns="76200" bIns="47625">
                      <a:noAutofit/>
                    </a:bodyPr>
                    <a:lstStyle/>
                    <a:p>
                      <a:pPr algn="ctr"/>
                      <a:r>
                        <a:rPr sz="1425" b="1">
                          <a:solidFill>
                            <a:srgbClr val="FFFFFF"/>
                          </a:solidFill>
                          <a:latin typeface="Arial"/>
                          <a:ea typeface="Arial"/>
                          <a:cs typeface="Arial"/>
                        </a:rPr>
                        <a:t>5 NTU</a:t>
                      </a:r>
                    </a:p>
                  </a:txBody>
                  <a:tcPr marL="91440" marR="91440" marT="45720" marB="45720">
                    <a:solidFill>
                      <a:srgbClr val="17485A"/>
                    </a:solidFill>
                  </a:tcPr>
                </a:tc>
                <a:tc>
                  <a:txBody>
                    <a:bodyPr wrap="square" lIns="95250" tIns="57150" rIns="76200" bIns="47625">
                      <a:noAutofit/>
                    </a:bodyPr>
                    <a:lstStyle/>
                    <a:p>
                      <a:pPr algn="ctr"/>
                      <a:r>
                        <a:rPr sz="1425" b="1">
                          <a:solidFill>
                            <a:srgbClr val="FFFFFF"/>
                          </a:solidFill>
                          <a:latin typeface="Arial"/>
                          <a:ea typeface="Arial"/>
                          <a:cs typeface="Arial"/>
                        </a:rPr>
                        <a:t>1,000 NTU</a:t>
                      </a:r>
                    </a:p>
                  </a:txBody>
                  <a:tcPr marL="91440" marR="91440" marT="45720" marB="45720">
                    <a:solidFill>
                      <a:srgbClr val="17485A"/>
                    </a:solidFill>
                  </a:tcPr>
                </a:tc>
              </a:tr>
              <a:tr h="538163">
                <a:tc>
                  <a:txBody>
                    <a:bodyPr wrap="square" lIns="95250" tIns="57150" rIns="76200" bIns="47625">
                      <a:noAutofit/>
                    </a:bodyPr>
                    <a:lstStyle/>
                    <a:p>
                      <a:pPr algn="l"/>
                      <a:r>
                        <a:rPr sz="1500" b="0">
                          <a:solidFill>
                            <a:srgbClr val="173447"/>
                          </a:solidFill>
                          <a:latin typeface="Arial"/>
                          <a:ea typeface="Arial"/>
                          <a:cs typeface="Arial"/>
                        </a:rPr>
                        <a:t>Centre frequency (kHz)</a:t>
                      </a:r>
                    </a:p>
                  </a:txBody>
                  <a:tcPr marL="91440" marR="91440" marT="45720" marB="45720">
                    <a:solidFill>
                      <a:srgbClr val="F1F8F9"/>
                    </a:solidFill>
                  </a:tcPr>
                </a:tc>
                <a:tc>
                  <a:txBody>
                    <a:bodyPr wrap="square" lIns="95250" tIns="57150" rIns="76200" bIns="47625">
                      <a:noAutofit/>
                    </a:bodyPr>
                    <a:lstStyle/>
                    <a:p>
                      <a:pPr algn="ctr"/>
                      <a:r>
                        <a:rPr sz="1950" b="1">
                          <a:solidFill>
                            <a:srgbClr val="173447"/>
                          </a:solidFill>
                          <a:latin typeface="Arial"/>
                          <a:ea typeface="Arial"/>
                          <a:cs typeface="Arial"/>
                        </a:rPr>
                        <a:t>351</a:t>
                      </a:r>
                    </a:p>
                  </a:txBody>
                  <a:tcPr marL="91440" marR="91440" marT="45720" marB="45720">
                    <a:solidFill>
                      <a:srgbClr val="F1F8F9"/>
                    </a:solidFill>
                  </a:tcPr>
                </a:tc>
                <a:tc>
                  <a:txBody>
                    <a:bodyPr wrap="square" lIns="95250" tIns="57150" rIns="76200" bIns="47625">
                      <a:noAutofit/>
                    </a:bodyPr>
                    <a:lstStyle/>
                    <a:p>
                      <a:pPr algn="ctr"/>
                      <a:r>
                        <a:rPr sz="1950" b="1">
                          <a:solidFill>
                            <a:srgbClr val="173447"/>
                          </a:solidFill>
                          <a:latin typeface="Arial"/>
                          <a:ea typeface="Arial"/>
                          <a:cs typeface="Arial"/>
                        </a:rPr>
                        <a:t>148</a:t>
                      </a:r>
                    </a:p>
                  </a:txBody>
                  <a:tcPr marL="91440" marR="91440" marT="45720" marB="45720">
                    <a:solidFill>
                      <a:srgbClr val="F1F8F9"/>
                    </a:solidFill>
                  </a:tcPr>
                </a:tc>
              </a:tr>
              <a:tr h="538163">
                <a:tc>
                  <a:txBody>
                    <a:bodyPr wrap="square" lIns="95250" tIns="57150" rIns="76200" bIns="47625">
                      <a:noAutofit/>
                    </a:bodyPr>
                    <a:lstStyle/>
                    <a:p>
                      <a:pPr algn="l"/>
                      <a:r>
                        <a:rPr sz="1500" b="0">
                          <a:solidFill>
                            <a:srgbClr val="173447"/>
                          </a:solidFill>
                          <a:latin typeface="Arial"/>
                          <a:ea typeface="Arial"/>
                          <a:cs typeface="Arial"/>
                        </a:rPr>
                        <a:t>Bandwidth (kHz)</a:t>
                      </a:r>
                    </a:p>
                  </a:txBody>
                  <a:tcPr marL="91440" marR="91440" marT="45720" marB="45720">
                    <a:solidFill>
                      <a:srgbClr val="FFFFFF"/>
                    </a:solidFill>
                  </a:tcPr>
                </a:tc>
                <a:tc>
                  <a:txBody>
                    <a:bodyPr wrap="square" lIns="95250" tIns="57150" rIns="76200" bIns="47625">
                      <a:noAutofit/>
                    </a:bodyPr>
                    <a:lstStyle/>
                    <a:p>
                      <a:pPr algn="ctr"/>
                      <a:r>
                        <a:rPr sz="1950" b="1">
                          <a:solidFill>
                            <a:srgbClr val="173447"/>
                          </a:solidFill>
                          <a:latin typeface="Arial"/>
                          <a:ea typeface="Arial"/>
                          <a:cs typeface="Arial"/>
                        </a:rPr>
                        <a:t>299</a:t>
                      </a:r>
                    </a:p>
                  </a:txBody>
                  <a:tcPr marL="91440" marR="91440" marT="45720" marB="45720">
                    <a:solidFill>
                      <a:srgbClr val="FFFFFF"/>
                    </a:solidFill>
                  </a:tcPr>
                </a:tc>
                <a:tc>
                  <a:txBody>
                    <a:bodyPr wrap="square" lIns="95250" tIns="57150" rIns="76200" bIns="47625">
                      <a:noAutofit/>
                    </a:bodyPr>
                    <a:lstStyle/>
                    <a:p>
                      <a:pPr algn="ctr"/>
                      <a:r>
                        <a:rPr sz="1950" b="1">
                          <a:solidFill>
                            <a:srgbClr val="173447"/>
                          </a:solidFill>
                          <a:latin typeface="Arial"/>
                          <a:ea typeface="Arial"/>
                          <a:cs typeface="Arial"/>
                        </a:rPr>
                        <a:t>96</a:t>
                      </a:r>
                    </a:p>
                  </a:txBody>
                  <a:tcPr marL="91440" marR="91440" marT="45720" marB="45720">
                    <a:solidFill>
                      <a:srgbClr val="FFFFFF"/>
                    </a:solidFill>
                  </a:tcPr>
                </a:tc>
              </a:tr>
              <a:tr h="538163">
                <a:tc>
                  <a:txBody>
                    <a:bodyPr wrap="square" lIns="95250" tIns="57150" rIns="76200" bIns="47625">
                      <a:noAutofit/>
                    </a:bodyPr>
                    <a:lstStyle/>
                    <a:p>
                      <a:pPr algn="l"/>
                      <a:r>
                        <a:rPr sz="1500" b="0">
                          <a:solidFill>
                            <a:srgbClr val="173447"/>
                          </a:solidFill>
                          <a:latin typeface="Arial"/>
                          <a:ea typeface="Arial"/>
                          <a:cs typeface="Arial"/>
                        </a:rPr>
                        <a:t>Range resolution (mm)</a:t>
                      </a:r>
                    </a:p>
                  </a:txBody>
                  <a:tcPr marL="91440" marR="91440" marT="45720" marB="45720">
                    <a:solidFill>
                      <a:srgbClr val="F1F8F9"/>
                    </a:solidFill>
                  </a:tcPr>
                </a:tc>
                <a:tc>
                  <a:txBody>
                    <a:bodyPr wrap="square" lIns="95250" tIns="57150" rIns="76200" bIns="47625">
                      <a:noAutofit/>
                    </a:bodyPr>
                    <a:lstStyle/>
                    <a:p>
                      <a:pPr algn="ctr"/>
                      <a:r>
                        <a:rPr sz="1950" b="1">
                          <a:solidFill>
                            <a:srgbClr val="173447"/>
                          </a:solidFill>
                          <a:latin typeface="Arial"/>
                          <a:ea typeface="Arial"/>
                          <a:cs typeface="Arial"/>
                        </a:rPr>
                        <a:t>2.6</a:t>
                      </a:r>
                    </a:p>
                  </a:txBody>
                  <a:tcPr marL="91440" marR="91440" marT="45720" marB="45720">
                    <a:solidFill>
                      <a:srgbClr val="F1F8F9"/>
                    </a:solidFill>
                  </a:tcPr>
                </a:tc>
                <a:tc>
                  <a:txBody>
                    <a:bodyPr wrap="square" lIns="95250" tIns="57150" rIns="76200" bIns="47625">
                      <a:noAutofit/>
                    </a:bodyPr>
                    <a:lstStyle/>
                    <a:p>
                      <a:pPr algn="ctr"/>
                      <a:r>
                        <a:rPr sz="1950" b="1">
                          <a:solidFill>
                            <a:srgbClr val="173447"/>
                          </a:solidFill>
                          <a:latin typeface="Arial"/>
                          <a:ea typeface="Arial"/>
                          <a:cs typeface="Arial"/>
                        </a:rPr>
                        <a:t>8.0</a:t>
                      </a:r>
                    </a:p>
                  </a:txBody>
                  <a:tcPr marL="91440" marR="91440" marT="45720" marB="45720">
                    <a:solidFill>
                      <a:srgbClr val="F1F8F9"/>
                    </a:solidFill>
                  </a:tcPr>
                </a:tc>
              </a:tr>
            </a:tbl>
          </a:graphicData>
        </a:graphic>
      </p:graphicFrame>
      <p:sp>
        <p:nvSpPr>
          <p:cNvPr id="24" name="">
            <a:extLst xmlns:a="http://schemas.openxmlformats.org/drawingml/2006/main">
              <a:ext uri="{FF2B5EF4-FFF2-40B4-BE49-F238E27FC236}">
                <a16:creationId xmlns:a16="http://schemas.microsoft.com/office/drawing/2014/main" id="{CD3A119D-3121-49D9-AFFE-0819AA62964B}"/>
              </a:ext>
            </a:extLst>
          </p:cNvPr>
          <p:cNvSpPr>
            <a:spLocks xmlns:a="http://schemas.openxmlformats.org/drawingml/2006/main" noGrp="1"/>
          </p:cNvSpPr>
          <p:nvPr/>
        </p:nvSpPr>
        <p:spPr>
          <a:xfrm xmlns:a="http://schemas.openxmlformats.org/drawingml/2006/main">
            <a:off x="857250" y="9858375"/>
            <a:ext cx="1666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647883"/>
                </a:solidFill>
                <a:latin typeface="Arial"/>
                <a:ea typeface="Arial"/>
                <a:cs typeface="Arial"/>
              </a:defRPr>
            </a:pPr>
            <a:r>
              <a:rPr sz="1425" b="0">
                <a:solidFill>
                  <a:srgbClr val="647883"/>
                </a:solidFill>
                <a:latin typeface="Arial"/>
                <a:ea typeface="Arial"/>
                <a:cs typeface="Arial"/>
              </a:rPr>
              <a:t>Modelled sweep, not tank measurements. TX and RX paths exist; adaptive end-to-end underwater performance awaits validation.</a:t>
            </a:r>
          </a:p>
        </p:txBody>
      </p:sp>
    </p:spTree>
    <p:extLst>
      <p:ext uri="{BB962C8B-B14F-4D97-AF65-F5344CB8AC3E}">
        <p14:creationId xmlns:p14="http://schemas.microsoft.com/office/powerpoint/2010/main" val="10589905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2026-09-27T12:15:29.5280000Z</dcterms:created>
  <dcterms:modified xsi:type="dcterms:W3CDTF">2026-09-27T12:15:29.5280000Z</dcterms:modified>
</coreProperties>
</file>