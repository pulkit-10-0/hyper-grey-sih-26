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dfb46f3e1e4143" /><Relationship Type="http://schemas.openxmlformats.org/officeDocument/2006/relationships/extended-properties" Target="/docProps/app.xml" Id="Rfd6a580282c64aa9" /><Relationship Type="http://schemas.openxmlformats.org/officeDocument/2006/relationships/officeDocument" Target="/ppt/presentation.xml" Id="R1a2dba548a9a4fdf" /></Relationships>
</file>

<file path=ppt/presentation.xml><?xml version="1.0" encoding="utf-8"?>
<p:presentation xmlns:p="http://schemas.openxmlformats.org/presentationml/2006/main">
  <p:sldMasterIdLst>
    <p:sldMasterId xmlns:r="http://schemas.openxmlformats.org/officeDocument/2006/relationships" id="2147483648" r:id="R67d742f4b9ff4e10"/>
  </p:sldMasterIdLst>
  <p:notesMasterIdLst>
    <p:notesMasterId xmlns:r="http://schemas.openxmlformats.org/officeDocument/2006/relationships" r:id="R6ac43bb7a0fb4cea"/>
  </p:notesMasterIdLst>
  <p:sldIdLst>
    <p:sldId xmlns:r="http://schemas.openxmlformats.org/officeDocument/2006/relationships" id="256" r:id="Rb127b55cad724a0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69f6ddc0a94fa1" /><Relationship Type="http://schemas.openxmlformats.org/officeDocument/2006/relationships/slideMaster" Target="/ppt/slideMasters/slideMaster1.xml" Id="R67d742f4b9ff4e10" /><Relationship Type="http://schemas.openxmlformats.org/officeDocument/2006/relationships/notesMaster" Target="/ppt/notesMasters/notesMaster1.xml" Id="R6ac43bb7a0fb4cea" /><Relationship Type="http://schemas.openxmlformats.org/officeDocument/2006/relationships/presProps" Target="/ppt/presProps.xml" Id="Racd09e25cb734e67" /><Relationship Type="http://schemas.openxmlformats.org/officeDocument/2006/relationships/tableStyles" Target="/ppt/tableStyles.xml" Id="R43e7a10c39f74441" /><Relationship Type="http://schemas.openxmlformats.org/officeDocument/2006/relationships/slide" Target="/ppt/slides/slide1.xml" Id="Rb127b55cad724a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adfa329d1946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3371ee4e24c60" /><Relationship Type="http://schemas.openxmlformats.org/officeDocument/2006/relationships/notesMaster" Target="/ppt/notesMasters/notesMaster1.xml" Id="R1810ad3fff1a44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presents the proposed full SeaNergy product, not a claim of an integrated validated build. Source handoff: 00-submission/pitch-deck/source-briefs/SeaNergy-SIH-2026-slide-authoring-brief.txt. Physical PS 26058 requirements are recorded in 00-submission/compliance-matrix/compliance-matrix.pdf. The current RevB 100 x 100 mm two-layer PCB design contains a nominal 40 kHz bench TX path and separate RX path, but has no parallel sonar DAC and has not been manufactured or water-tested (01-hardware/README.md). The ESP-IDF payload source contains constrained candidate selection, DDS, windows and DMA-capable I80 transfer, but needs the DAC/analog path and instrument trace to validate adaptive physical sonar output (02-firmware/README.md and src/components). LFM, geometric and phase-coded modes here refer to the proposed full product; do not identify them as measured output of the RevB board. The 100-500 kHz synthetic study is a separate product/model configuration (05-models/README.md). The table's approximate sound-speed sensitivities are from NOAA, https://repository.library.noaa.gov/view/noaa/44869/noaa_44869_DS1.pdf. NOAA NCEI describes the echo-ranging relationship: https://www.ngdc.noaa.gov/mgg/fliers/84mgg18.html. The third column uses a true 100 m range and uniform actual speeds 1504.5, 1501.3 or 1501.7 m/s against fixed assumed 1500 m/s: estimated range = 1500 * 100 / actual speed. Rounded absolute errors are 30, 9 and 11 cm. These are illustrative physics estimates, not SeaNergy measurements. The AUV hero image is a generated concept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b3841cbd2b41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24915a9d17426a" /><Relationship Type="http://schemas.openxmlformats.org/officeDocument/2006/relationships/slideLayout" Target="/ppt/slideLayouts/slideLayout1.xml" Id="R1832d3e1c9a946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32d3e1c9a946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ad4a86fb80409a" /><Relationship Type="http://schemas.openxmlformats.org/officeDocument/2006/relationships/image" Target="/ppt/media/image.png" Id="R9ce528c4f57e496c" /><Relationship Type="http://schemas.openxmlformats.org/officeDocument/2006/relationships/notesSlide" Target="/ppt/notesSlides/notesSlide1.xml" Id="Rd12a35767838441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ce528c4f57e496c"/>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9D07123-8BB3-4E6E-87A7-297F843D2C4A}"/>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2855F5A5-368C-410D-8929-D1CCA6355485}"/>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Every Ping, Purpose-Built.</a:t>
            </a:r>
          </a:p>
        </p:txBody>
      </p:sp>
      <p:sp>
        <p:nvSpPr>
          <p:cNvPr id="4" name="">
            <a:extLst xmlns:a="http://schemas.openxmlformats.org/drawingml/2006/main">
              <a:ext uri="{FF2B5EF4-FFF2-40B4-BE49-F238E27FC236}">
                <a16:creationId xmlns:a16="http://schemas.microsoft.com/office/drawing/2014/main" id="{5BD91A75-849B-4303-9E88-ED7C7E85828A}"/>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BB36CB04-0C23-4843-AD14-E880AA848D5F}"/>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EBBE0BA2-9A2A-4E37-8FF1-67D5659AC068}"/>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proposed software-defined sonar payload for AUVs. Live water data will guide a bounded controller as it selects frequency, bandwidth, duration and waveform for each ping. Onboard synthesis and timed transfer will feed a DAC, filter, power stage and transducer, while a separate receiver and local console will show the returned signal and decision trace. The finished system aims to balance range, detail and battery use as conditions change.</a:t>
            </a:r>
          </a:p>
        </p:txBody>
      </p:sp>
      <p:sp>
        <p:nvSpPr>
          <p:cNvPr id="7" name="">
            <a:extLst xmlns:a="http://schemas.openxmlformats.org/drawingml/2006/main">
              <a:ext uri="{FF2B5EF4-FFF2-40B4-BE49-F238E27FC236}">
                <a16:creationId xmlns:a16="http://schemas.microsoft.com/office/drawing/2014/main" id="{CAB4AFAC-451A-4AA0-A446-38248B61B4A9}"/>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FOUR PRODUCT STRENGTHS</a:t>
            </a:r>
          </a:p>
        </p:txBody>
      </p:sp>
      <p:sp>
        <p:nvSpPr>
          <p:cNvPr id="8" name="">
            <a:extLst xmlns:a="http://schemas.openxmlformats.org/drawingml/2006/main">
              <a:ext uri="{FF2B5EF4-FFF2-40B4-BE49-F238E27FC236}">
                <a16:creationId xmlns:a16="http://schemas.microsoft.com/office/drawing/2014/main" id="{C5BDE4FC-460D-4544-A026-0018990F163D}"/>
              </a:ext>
            </a:extLst>
          </p:cNvPr>
          <p:cNvSpPr>
            <a:spLocks xmlns:a="http://schemas.openxmlformats.org/drawingml/2006/main" noGrp="1"/>
          </p:cNvSpPr>
          <p:nvPr/>
        </p:nvSpPr>
        <p:spPr>
          <a:xfrm xmlns:a="http://schemas.openxmlformats.org/drawingml/2006/main">
            <a:off x="857250" y="58102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Adaptive waveform library</a:t>
            </a:r>
          </a:p>
        </p:txBody>
      </p:sp>
      <p:sp>
        <p:nvSpPr>
          <p:cNvPr id="9" name="">
            <a:extLst xmlns:a="http://schemas.openxmlformats.org/drawingml/2006/main">
              <a:ext uri="{FF2B5EF4-FFF2-40B4-BE49-F238E27FC236}">
                <a16:creationId xmlns:a16="http://schemas.microsoft.com/office/drawing/2014/main" id="{12E64D64-D33C-433D-9D59-93CE975EFB29}"/>
              </a:ext>
            </a:extLst>
          </p:cNvPr>
          <p:cNvSpPr>
            <a:spLocks xmlns:a="http://schemas.openxmlformats.org/drawingml/2006/main" noGrp="1"/>
          </p:cNvSpPr>
          <p:nvPr/>
        </p:nvSpPr>
        <p:spPr>
          <a:xfrm xmlns:a="http://schemas.openxmlformats.org/drawingml/2006/main">
            <a:off x="857250" y="61626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salinity, turbidity, pH and depth inform LFM, geometric and phase-coded pulse choices for changing missions.</a:t>
            </a:r>
          </a:p>
        </p:txBody>
      </p:sp>
      <p:sp>
        <p:nvSpPr>
          <p:cNvPr id="10" name="">
            <a:extLst xmlns:a="http://schemas.openxmlformats.org/drawingml/2006/main">
              <a:ext uri="{FF2B5EF4-FFF2-40B4-BE49-F238E27FC236}">
                <a16:creationId xmlns:a16="http://schemas.microsoft.com/office/drawing/2014/main" id="{27BACA81-D511-415E-9851-3CAD1E98F6B1}"/>
              </a:ext>
            </a:extLst>
          </p:cNvPr>
          <p:cNvSpPr>
            <a:spLocks xmlns:a="http://schemas.openxmlformats.org/drawingml/2006/main" noGrp="1"/>
          </p:cNvSpPr>
          <p:nvPr/>
        </p:nvSpPr>
        <p:spPr>
          <a:xfrm xmlns:a="http://schemas.openxmlformats.org/drawingml/2006/main">
            <a:off x="857250" y="67627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Bounded decision engine</a:t>
            </a:r>
          </a:p>
        </p:txBody>
      </p:sp>
      <p:sp>
        <p:nvSpPr>
          <p:cNvPr id="11" name="">
            <a:extLst xmlns:a="http://schemas.openxmlformats.org/drawingml/2006/main">
              <a:ext uri="{FF2B5EF4-FFF2-40B4-BE49-F238E27FC236}">
                <a16:creationId xmlns:a16="http://schemas.microsoft.com/office/drawing/2014/main" id="{B405CC86-EF86-46C4-9038-1FEB531A9CF1}"/>
              </a:ext>
            </a:extLst>
          </p:cNvPr>
          <p:cNvSpPr>
            <a:spLocks xmlns:a="http://schemas.openxmlformats.org/drawingml/2006/main" noGrp="1"/>
          </p:cNvSpPr>
          <p:nvPr/>
        </p:nvSpPr>
        <p:spPr>
          <a:xfrm xmlns:a="http://schemas.openxmlformats.org/drawingml/2006/main">
            <a:off x="857250" y="71151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Acoustic physics, electrical limits and a per-ping energy budget keep each selected waveform feasible and explainable.</a:t>
            </a:r>
          </a:p>
        </p:txBody>
      </p:sp>
      <p:sp>
        <p:nvSpPr>
          <p:cNvPr id="12" name="">
            <a:extLst xmlns:a="http://schemas.openxmlformats.org/drawingml/2006/main">
              <a:ext uri="{FF2B5EF4-FFF2-40B4-BE49-F238E27FC236}">
                <a16:creationId xmlns:a16="http://schemas.microsoft.com/office/drawing/2014/main" id="{585AAC85-D454-4DFA-A3D2-061F5DB05F17}"/>
              </a:ext>
            </a:extLst>
          </p:cNvPr>
          <p:cNvSpPr>
            <a:spLocks xmlns:a="http://schemas.openxmlformats.org/drawingml/2006/main" noGrp="1"/>
          </p:cNvSpPr>
          <p:nvPr/>
        </p:nvSpPr>
        <p:spPr>
          <a:xfrm xmlns:a="http://schemas.openxmlformats.org/drawingml/2006/main">
            <a:off x="857250" y="77152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Autonomous transmitter hardware</a:t>
            </a:r>
          </a:p>
        </p:txBody>
      </p:sp>
      <p:sp>
        <p:nvSpPr>
          <p:cNvPr id="13" name="">
            <a:extLst xmlns:a="http://schemas.openxmlformats.org/drawingml/2006/main">
              <a:ext uri="{FF2B5EF4-FFF2-40B4-BE49-F238E27FC236}">
                <a16:creationId xmlns:a16="http://schemas.microsoft.com/office/drawing/2014/main" id="{65316E57-C984-4ED9-AF34-3C70190FF563}"/>
              </a:ext>
            </a:extLst>
          </p:cNvPr>
          <p:cNvSpPr>
            <a:spLocks xmlns:a="http://schemas.openxmlformats.org/drawingml/2006/main" noGrp="1"/>
          </p:cNvSpPr>
          <p:nvPr/>
        </p:nvSpPr>
        <p:spPr>
          <a:xfrm xmlns:a="http://schemas.openxmlformats.org/drawingml/2006/main">
            <a:off x="857250" y="80676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Onboard synthesis, timed DMA transfer, DAC, filtering and driver form the proposed signal path inside the AUV.</a:t>
            </a:r>
          </a:p>
        </p:txBody>
      </p:sp>
      <p:sp>
        <p:nvSpPr>
          <p:cNvPr id="14" name="">
            <a:extLst xmlns:a="http://schemas.openxmlformats.org/drawingml/2006/main">
              <a:ext uri="{FF2B5EF4-FFF2-40B4-BE49-F238E27FC236}">
                <a16:creationId xmlns:a16="http://schemas.microsoft.com/office/drawing/2014/main" id="{5D94CAF5-DBCC-4E63-83AB-D5DB6AEF8A7C}"/>
              </a:ext>
            </a:extLst>
          </p:cNvPr>
          <p:cNvSpPr>
            <a:spLocks xmlns:a="http://schemas.openxmlformats.org/drawingml/2006/main" noGrp="1"/>
          </p:cNvSpPr>
          <p:nvPr/>
        </p:nvSpPr>
        <p:spPr>
          <a:xfrm xmlns:a="http://schemas.openxmlformats.org/drawingml/2006/main">
            <a:off x="857250" y="86677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Inspectable TX and RX</a:t>
            </a:r>
          </a:p>
        </p:txBody>
      </p:sp>
      <p:sp>
        <p:nvSpPr>
          <p:cNvPr id="15" name="">
            <a:extLst xmlns:a="http://schemas.openxmlformats.org/drawingml/2006/main">
              <a:ext uri="{FF2B5EF4-FFF2-40B4-BE49-F238E27FC236}">
                <a16:creationId xmlns:a16="http://schemas.microsoft.com/office/drawing/2014/main" id="{B9CCBA61-5876-45E9-984F-25CDC1D4EB11}"/>
              </a:ext>
            </a:extLst>
          </p:cNvPr>
          <p:cNvSpPr>
            <a:spLocks xmlns:a="http://schemas.openxmlformats.org/drawingml/2006/main" noGrp="1"/>
          </p:cNvSpPr>
          <p:nvPr/>
        </p:nvSpPr>
        <p:spPr>
          <a:xfrm xmlns:a="http://schemas.openxmlformats.org/drawingml/2006/main">
            <a:off x="857250" y="90201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A local console reveals pulse choices and power data; the receiver displays waveforms and spectra for validation.</a:t>
            </a:r>
          </a:p>
        </p:txBody>
      </p:sp>
      <p:sp>
        <p:nvSpPr>
          <p:cNvPr id="16" name="">
            <a:extLst xmlns:a="http://schemas.openxmlformats.org/drawingml/2006/main">
              <a:ext uri="{FF2B5EF4-FFF2-40B4-BE49-F238E27FC236}">
                <a16:creationId xmlns:a16="http://schemas.microsoft.com/office/drawing/2014/main" id="{64ECD22F-8F67-422C-9C36-C1AD5CFA6A26}"/>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17" name="">
            <a:extLst xmlns:a="http://schemas.openxmlformats.org/drawingml/2006/main">
              <a:ext uri="{FF2B5EF4-FFF2-40B4-BE49-F238E27FC236}">
                <a16:creationId xmlns:a16="http://schemas.microsoft.com/office/drawing/2014/main" id="{20DF4E5A-F33B-49F6-A472-2093A9643FE9}"/>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PS 26058 calls for physical, low-power sonar hardware that adapts in real time. Changing water alters sound speed and signal loss, so one fixed ping cannot balance range, detail and energy everywhere. AUV battery and CPU limits make each transmit decision consequential.</a:t>
            </a:r>
          </a:p>
        </p:txBody>
      </p:sp>
      <p:sp>
        <p:nvSpPr>
          <p:cNvPr id="18" name="">
            <a:extLst xmlns:a="http://schemas.openxmlformats.org/drawingml/2006/main">
              <a:ext uri="{FF2B5EF4-FFF2-40B4-BE49-F238E27FC236}">
                <a16:creationId xmlns:a16="http://schemas.microsoft.com/office/drawing/2014/main" id="{B4460EDA-A396-4081-AF84-8293C2675666}"/>
              </a:ext>
            </a:extLst>
          </p:cNvPr>
          <p:cNvSpPr>
            <a:spLocks xmlns:a="http://schemas.openxmlformats.org/drawingml/2006/main" noGrp="1"/>
          </p:cNvSpPr>
          <p:nvPr/>
        </p:nvSpPr>
        <p:spPr>
          <a:xfrm xmlns:a="http://schemas.openxmlformats.org/drawingml/2006/main">
            <a:off x="9525000" y="69818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FIXED SOUND SPEED CREATES RANGE ERROR</a:t>
            </a:r>
          </a:p>
        </p:txBody>
      </p:sp>
      <p:graphicFrame>
        <p:nvGraphicFramePr>
          <p:cNvPr id="39" name=""/>
          <p:cNvGraphicFramePr/>
          <p:nvPr/>
        </p:nvGraphicFramePr>
        <p:xfrm>
          <a:off xmlns:a="http://schemas.openxmlformats.org/drawingml/2006/main" x="9525000" y="7381875"/>
          <a:ext xmlns:a="http://schemas.openxmlformats.org/drawingml/2006/main" cx="8001000" cy="2152650"/>
        </p:xfrm>
        <a:graphic xmlns:a="http://schemas.openxmlformats.org/drawingml/2006/main">
          <a:graphicData uri="http://schemas.openxmlformats.org/drawingml/2006/table">
            <a:tbl>
              <a:tblPr firstRow="1" bandRow="0"/>
              <a:tblGrid>
                <a:gridCol w="3143250"/>
                <a:gridCol w="2286000"/>
                <a:gridCol w="2571750"/>
              </a:tblGrid>
              <a:tr h="538163">
                <a:tc>
                  <a:txBody>
                    <a:bodyPr wrap="square" lIns="95250" tIns="57150" rIns="76200" bIns="47625">
                      <a:noAutofit/>
                    </a:bodyPr>
                    <a:lstStyle/>
                    <a:p>
                      <a:pPr algn="l"/>
                      <a:r>
                        <a:rPr sz="1350" b="1">
                          <a:solidFill>
                            <a:srgbClr val="FFFFFF"/>
                          </a:solidFill>
                          <a:latin typeface="Arial"/>
                          <a:ea typeface="Arial"/>
                          <a:cs typeface="Arial"/>
                        </a:rPr>
                        <a:t>WATER CHANGE</a:t>
                      </a:r>
                    </a:p>
                  </a:txBody>
                  <a:tcPr marL="91440" marR="91440" marT="45720" marB="45720">
                    <a:solidFill>
                      <a:srgbClr val="17485A"/>
                    </a:solidFill>
                  </a:tcPr>
                </a:tc>
                <a:tc>
                  <a:txBody>
                    <a:bodyPr wrap="square" lIns="95250" tIns="57150" rIns="76200" bIns="47625">
                      <a:noAutofit/>
                    </a:bodyPr>
                    <a:lstStyle/>
                    <a:p>
                      <a:pPr algn="ctr"/>
                      <a:r>
                        <a:rPr sz="1350" b="1">
                          <a:solidFill>
                            <a:srgbClr val="FFFFFF"/>
                          </a:solidFill>
                          <a:latin typeface="Arial"/>
                          <a:ea typeface="Arial"/>
                          <a:cs typeface="Arial"/>
                        </a:rPr>
                        <a:t>SPEED SHIFT</a:t>
                      </a:r>
                    </a:p>
                  </a:txBody>
                  <a:tcPr marL="91440" marR="91440" marT="45720" marB="45720">
                    <a:solidFill>
                      <a:srgbClr val="17485A"/>
                    </a:solidFill>
                  </a:tcPr>
                </a:tc>
                <a:tc>
                  <a:txBody>
                    <a:bodyPr wrap="square" lIns="95250" tIns="57150" rIns="76200" bIns="47625">
                      <a:noAutofit/>
                    </a:bodyPr>
                    <a:lstStyle/>
                    <a:p>
                      <a:pPr algn="ctr"/>
                      <a:r>
                        <a:rPr sz="1350" b="1">
                          <a:solidFill>
                            <a:srgbClr val="FFFFFF"/>
                          </a:solidFill>
                          <a:latin typeface="Arial"/>
                          <a:ea typeface="Arial"/>
                          <a:cs typeface="Arial"/>
                        </a:rPr>
                        <a:t>ERROR AT 100 m*</a:t>
                      </a:r>
                    </a:p>
                  </a:txBody>
                  <a:tcPr marL="91440" marR="91440" marT="45720" marB="45720">
                    <a:solidFill>
                      <a:srgbClr val="17485A"/>
                    </a:solidFill>
                  </a:tcPr>
                </a:tc>
              </a:tr>
              <a:tr h="538163">
                <a:tc>
                  <a:txBody>
                    <a:bodyPr wrap="square" lIns="95250" tIns="57150" rIns="76200" bIns="47625">
                      <a:noAutofit/>
                    </a:bodyPr>
                    <a:lstStyle/>
                    <a:p>
                      <a:pPr algn="l"/>
                      <a:r>
                        <a:rPr sz="1500" b="0">
                          <a:solidFill>
                            <a:srgbClr val="173447"/>
                          </a:solidFill>
                          <a:latin typeface="Arial"/>
                          <a:ea typeface="Arial"/>
                          <a:cs typeface="Arial"/>
                        </a:rPr>
                        <a:t>+1 °C temperature</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+4.5 m/s</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30 cm</a:t>
                      </a:r>
                    </a:p>
                  </a:txBody>
                  <a:tcPr marL="91440" marR="91440" marT="45720" marB="45720">
                    <a:solidFill>
                      <a:srgbClr val="F1F8F9"/>
                    </a:solidFill>
                  </a:tcPr>
                </a:tc>
              </a:tr>
              <a:tr h="538163">
                <a:tc>
                  <a:txBody>
                    <a:bodyPr wrap="square" lIns="95250" tIns="57150" rIns="76200" bIns="47625">
                      <a:noAutofit/>
                    </a:bodyPr>
                    <a:lstStyle/>
                    <a:p>
                      <a:pPr algn="l"/>
                      <a:r>
                        <a:rPr sz="1500" b="0">
                          <a:solidFill>
                            <a:srgbClr val="173447"/>
                          </a:solidFill>
                          <a:latin typeface="Arial"/>
                          <a:ea typeface="Arial"/>
                          <a:cs typeface="Arial"/>
                        </a:rPr>
                        <a:t>+1 ppt salinity</a:t>
                      </a:r>
                    </a:p>
                  </a:txBody>
                  <a:tcPr marL="91440" marR="91440" marT="45720" marB="45720">
                    <a:solidFill>
                      <a:srgbClr val="FFFFFF"/>
                    </a:solidFill>
                  </a:tcPr>
                </a:tc>
                <a:tc>
                  <a:txBody>
                    <a:bodyPr wrap="square" lIns="95250" tIns="57150" rIns="76200" bIns="47625">
                      <a:noAutofit/>
                    </a:bodyPr>
                    <a:lstStyle/>
                    <a:p>
                      <a:pPr algn="ctr"/>
                      <a:r>
                        <a:rPr sz="1875" b="1">
                          <a:solidFill>
                            <a:srgbClr val="173447"/>
                          </a:solidFill>
                          <a:latin typeface="Arial"/>
                          <a:ea typeface="Arial"/>
                          <a:cs typeface="Arial"/>
                        </a:rPr>
                        <a:t>+1.3 m/s</a:t>
                      </a:r>
                    </a:p>
                  </a:txBody>
                  <a:tcPr marL="91440" marR="91440" marT="45720" marB="45720">
                    <a:solidFill>
                      <a:srgbClr val="FFFFFF"/>
                    </a:solidFill>
                  </a:tcPr>
                </a:tc>
                <a:tc>
                  <a:txBody>
                    <a:bodyPr wrap="square" lIns="95250" tIns="57150" rIns="76200" bIns="47625">
                      <a:noAutofit/>
                    </a:bodyPr>
                    <a:lstStyle/>
                    <a:p>
                      <a:pPr algn="ctr"/>
                      <a:r>
                        <a:rPr sz="1875" b="1">
                          <a:solidFill>
                            <a:srgbClr val="173447"/>
                          </a:solidFill>
                          <a:latin typeface="Arial"/>
                          <a:ea typeface="Arial"/>
                          <a:cs typeface="Arial"/>
                        </a:rPr>
                        <a:t>9 cm</a:t>
                      </a:r>
                    </a:p>
                  </a:txBody>
                  <a:tcPr marL="91440" marR="91440" marT="45720" marB="45720">
                    <a:solidFill>
                      <a:srgbClr val="FFFFFF"/>
                    </a:solidFill>
                  </a:tcPr>
                </a:tc>
              </a:tr>
              <a:tr h="538163">
                <a:tc>
                  <a:txBody>
                    <a:bodyPr wrap="square" lIns="95250" tIns="57150" rIns="76200" bIns="47625">
                      <a:noAutofit/>
                    </a:bodyPr>
                    <a:lstStyle/>
                    <a:p>
                      <a:pPr algn="l"/>
                      <a:r>
                        <a:rPr sz="1500" b="0">
                          <a:solidFill>
                            <a:srgbClr val="173447"/>
                          </a:solidFill>
                          <a:latin typeface="Arial"/>
                          <a:ea typeface="Arial"/>
                          <a:cs typeface="Arial"/>
                        </a:rPr>
                        <a:t>+100 m depth</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+1.7 m/s</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11 cm</a:t>
                      </a:r>
                    </a:p>
                  </a:txBody>
                  <a:tcPr marL="91440" marR="91440" marT="45720" marB="45720">
                    <a:solidFill>
                      <a:srgbClr val="F1F8F9"/>
                    </a:solidFill>
                  </a:tcPr>
                </a:tc>
              </a:tr>
            </a:tbl>
          </a:graphicData>
        </a:graphic>
      </p:graphicFrame>
      <p:sp>
        <p:nvSpPr>
          <p:cNvPr id="20" name="">
            <a:extLst xmlns:a="http://schemas.openxmlformats.org/drawingml/2006/main">
              <a:ext uri="{FF2B5EF4-FFF2-40B4-BE49-F238E27FC236}">
                <a16:creationId xmlns:a16="http://schemas.microsoft.com/office/drawing/2014/main" id="{0FBC6EB6-1B42-4B9C-AAF0-60899C2F78FF}"/>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47883"/>
                </a:solidFill>
                <a:latin typeface="Arial"/>
                <a:ea typeface="Arial"/>
                <a:cs typeface="Arial"/>
              </a:defRPr>
            </a:pPr>
            <a:r>
              <a:rPr sz="1350" b="0">
                <a:solidFill>
                  <a:srgbClr val="647883"/>
                </a:solidFill>
                <a:latin typeface="Arial"/>
                <a:ea typeface="Arial"/>
                <a:cs typeface="Arial"/>
              </a:rPr>
              <a:t>*Illustrative 100 m range error with a fixed 1,500 m/s assumption, using NOAA sensitivities. SeaNergy architecture shown as proposed.</a:t>
            </a:r>
          </a:p>
        </p:txBody>
      </p:sp>
    </p:spTree>
    <p:extLst>
      <p:ext uri="{BB962C8B-B14F-4D97-AF65-F5344CB8AC3E}">
        <p14:creationId xmlns:p14="http://schemas.microsoft.com/office/powerpoint/2010/main" val="10985396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2026-09-27T16:57:08.2260000Z</dcterms:created>
  <dcterms:modified xsi:type="dcterms:W3CDTF">2026-09-27T16:57:08.2260000Z</dcterms:modified>
</coreProperties>
</file>