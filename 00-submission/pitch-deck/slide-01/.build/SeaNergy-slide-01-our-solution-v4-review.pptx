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faefbf568545b5" /><Relationship Type="http://schemas.openxmlformats.org/officeDocument/2006/relationships/extended-properties" Target="/docProps/app.xml" Id="R6d6e42345b2c4157" /><Relationship Type="http://schemas.openxmlformats.org/officeDocument/2006/relationships/officeDocument" Target="/ppt/presentation.xml" Id="Ra4e6bde59bef43cb" /></Relationships>
</file>

<file path=ppt/presentation.xml><?xml version="1.0" encoding="utf-8"?>
<p:presentation xmlns:p="http://schemas.openxmlformats.org/presentationml/2006/main">
  <p:sldMasterIdLst>
    <p:sldMasterId xmlns:r="http://schemas.openxmlformats.org/officeDocument/2006/relationships" id="2147483648" r:id="R0fb344efc3b54d3c"/>
  </p:sldMasterIdLst>
  <p:notesMasterIdLst>
    <p:notesMasterId xmlns:r="http://schemas.openxmlformats.org/officeDocument/2006/relationships" r:id="R08ed32625571494a"/>
  </p:notesMasterIdLst>
  <p:sldIdLst>
    <p:sldId xmlns:r="http://schemas.openxmlformats.org/officeDocument/2006/relationships" id="256" r:id="Rac28d4a12f4848a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68554e42cb452e" /><Relationship Type="http://schemas.openxmlformats.org/officeDocument/2006/relationships/slideMaster" Target="/ppt/slideMasters/slideMaster1.xml" Id="R0fb344efc3b54d3c" /><Relationship Type="http://schemas.openxmlformats.org/officeDocument/2006/relationships/notesMaster" Target="/ppt/notesMasters/notesMaster1.xml" Id="R08ed32625571494a" /><Relationship Type="http://schemas.openxmlformats.org/officeDocument/2006/relationships/presProps" Target="/ppt/presProps.xml" Id="R3c85e81f27874581" /><Relationship Type="http://schemas.openxmlformats.org/officeDocument/2006/relationships/tableStyles" Target="/ppt/tableStyles.xml" Id="R4a6b118e1e81415f" /><Relationship Type="http://schemas.openxmlformats.org/officeDocument/2006/relationships/slide" Target="/ppt/slides/slide1.xml" Id="Rac28d4a12f4848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06354d133441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fd6a72349e4c72" /><Relationship Type="http://schemas.openxmlformats.org/officeDocument/2006/relationships/notesMaster" Target="/ppt/notesMasters/notesMaster1.xml" Id="Rc17c1f61862e49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SeaNergy executive-summary.pdf and PS 26058 compliance-matrix.pdf in this repository. Numeric table: compliance matrix C-05 modelled water sweep from 5 to 1,000 NTU. Values are not tank measurements. The AUV hero image is a generated concept illustration, not a photograph of the prototype. Four waveform families and bench sensor inputs are current software/bench evidence. DMA-driven ultrasonic output, scope tests, and tank measurements remain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41df84862c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78f39988ea4cb4" /><Relationship Type="http://schemas.openxmlformats.org/officeDocument/2006/relationships/slideLayout" Target="/ppt/slideLayouts/slideLayout1.xml" Id="R21109d276aca49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109d276aca49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ef3ec85b984879" /><Relationship Type="http://schemas.openxmlformats.org/officeDocument/2006/relationships/image" Target="/ppt/media/image.png" Id="R2083d5b1f55d4036" /><Relationship Type="http://schemas.openxmlformats.org/officeDocument/2006/relationships/notesSlide" Target="/ppt/notesSlides/notesSlide1.xml" Id="R335d14bf2fc44d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083d5b1f55d4036"/>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76C865-F014-442C-AEAD-B1B94F1A703A}"/>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7AAEFE75-6C25-4DA0-8A3C-68AC2DE43D75}"/>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Adaptive sonar transmission for changing water</a:t>
            </a:r>
          </a:p>
        </p:txBody>
      </p:sp>
      <p:sp>
        <p:nvSpPr>
          <p:cNvPr id="4" name="">
            <a:extLst xmlns:a="http://schemas.openxmlformats.org/drawingml/2006/main">
              <a:ext uri="{FF2B5EF4-FFF2-40B4-BE49-F238E27FC236}">
                <a16:creationId xmlns:a16="http://schemas.microsoft.com/office/drawing/2014/main" id="{82171A7E-BDBC-44D6-BCB1-092AD6538643}"/>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FF262DF4-AB49-450C-8A19-3E35E2CD3C68}"/>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433C4E77-5F32-45BF-8BEB-F92D6DBE9C26}"/>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sensor-informed, software-defined sonar transmitter payload for AUVs, designed to turn changing water conditions into a tailored acoustic ping. It models the channel, selects frequency, bandwidth, duration and power, then synthesizes the waveform for an efficient transmit chain while recording why that pulse was chosen.</a:t>
            </a:r>
          </a:p>
        </p:txBody>
      </p:sp>
      <p:sp>
        <p:nvSpPr>
          <p:cNvPr id="7" name="">
            <a:extLst xmlns:a="http://schemas.openxmlformats.org/drawingml/2006/main">
              <a:ext uri="{FF2B5EF4-FFF2-40B4-BE49-F238E27FC236}">
                <a16:creationId xmlns:a16="http://schemas.microsoft.com/office/drawing/2014/main" id="{A2B3D4E4-2A66-4CA6-9FBA-80558318455E}"/>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FROM WATER TO PING</a:t>
            </a:r>
          </a:p>
        </p:txBody>
      </p:sp>
      <p:sp>
        <p:nvSpPr>
          <p:cNvPr id="8" name="">
            <a:extLst xmlns:a="http://schemas.openxmlformats.org/drawingml/2006/main">
              <a:ext uri="{FF2B5EF4-FFF2-40B4-BE49-F238E27FC236}">
                <a16:creationId xmlns:a16="http://schemas.microsoft.com/office/drawing/2014/main" id="{459581B8-C1E0-4CDB-B020-315566D152FE}"/>
              </a:ext>
            </a:extLst>
          </p:cNvPr>
          <p:cNvSpPr>
            <a:spLocks xmlns:a="http://schemas.openxmlformats.org/drawingml/2006/main" noGrp="1"/>
          </p:cNvSpPr>
          <p:nvPr/>
        </p:nvSpPr>
        <p:spPr>
          <a:xfrm xmlns:a="http://schemas.openxmlformats.org/drawingml/2006/main">
            <a:off x="857250" y="5810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F5BDA0AF-79F7-41DD-9F13-6D908C582E7E}"/>
              </a:ext>
            </a:extLst>
          </p:cNvPr>
          <p:cNvSpPr>
            <a:spLocks xmlns:a="http://schemas.openxmlformats.org/drawingml/2006/main" noGrp="1"/>
          </p:cNvSpPr>
          <p:nvPr/>
        </p:nvSpPr>
        <p:spPr>
          <a:xfrm xmlns:a="http://schemas.openxmlformats.org/drawingml/2006/main">
            <a:off x="1495425" y="5810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Read the water</a:t>
            </a:r>
          </a:p>
        </p:txBody>
      </p:sp>
      <p:sp>
        <p:nvSpPr>
          <p:cNvPr id="10" name="">
            <a:extLst xmlns:a="http://schemas.openxmlformats.org/drawingml/2006/main">
              <a:ext uri="{FF2B5EF4-FFF2-40B4-BE49-F238E27FC236}">
                <a16:creationId xmlns:a16="http://schemas.microsoft.com/office/drawing/2014/main" id="{D04948B1-3D4F-4547-A169-24DF2B16CE30}"/>
              </a:ext>
            </a:extLst>
          </p:cNvPr>
          <p:cNvSpPr>
            <a:spLocks xmlns:a="http://schemas.openxmlformats.org/drawingml/2006/main" noGrp="1"/>
          </p:cNvSpPr>
          <p:nvPr/>
        </p:nvSpPr>
        <p:spPr>
          <a:xfrm xmlns:a="http://schemas.openxmlformats.org/drawingml/2006/main">
            <a:off x="1495425" y="6162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TDS and turbidity readings, plus a depth input, describe the conditions for each ping.</a:t>
            </a:r>
          </a:p>
        </p:txBody>
      </p:sp>
      <p:sp>
        <p:nvSpPr>
          <p:cNvPr id="11" name="">
            <a:extLst xmlns:a="http://schemas.openxmlformats.org/drawingml/2006/main">
              <a:ext uri="{FF2B5EF4-FFF2-40B4-BE49-F238E27FC236}">
                <a16:creationId xmlns:a16="http://schemas.microsoft.com/office/drawing/2014/main" id="{AFF67211-FCDC-4691-8D3A-E41B4D7D938D}"/>
              </a:ext>
            </a:extLst>
          </p:cNvPr>
          <p:cNvSpPr>
            <a:spLocks xmlns:a="http://schemas.openxmlformats.org/drawingml/2006/main" noGrp="1"/>
          </p:cNvSpPr>
          <p:nvPr/>
        </p:nvSpPr>
        <p:spPr>
          <a:xfrm xmlns:a="http://schemas.openxmlformats.org/drawingml/2006/main">
            <a:off x="857250" y="6762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C65610C9-4F44-4C44-A777-6EFDFD74E412}"/>
              </a:ext>
            </a:extLst>
          </p:cNvPr>
          <p:cNvSpPr>
            <a:spLocks xmlns:a="http://schemas.openxmlformats.org/drawingml/2006/main" noGrp="1"/>
          </p:cNvSpPr>
          <p:nvPr/>
        </p:nvSpPr>
        <p:spPr>
          <a:xfrm xmlns:a="http://schemas.openxmlformats.org/drawingml/2006/main">
            <a:off x="1495425" y="6762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Choose the pulse</a:t>
            </a:r>
          </a:p>
        </p:txBody>
      </p:sp>
      <p:sp>
        <p:nvSpPr>
          <p:cNvPr id="13" name="">
            <a:extLst xmlns:a="http://schemas.openxmlformats.org/drawingml/2006/main">
              <a:ext uri="{FF2B5EF4-FFF2-40B4-BE49-F238E27FC236}">
                <a16:creationId xmlns:a16="http://schemas.microsoft.com/office/drawing/2014/main" id="{FB8BF20E-1CFB-4F3D-B192-0A343A082BC2}"/>
              </a:ext>
            </a:extLst>
          </p:cNvPr>
          <p:cNvSpPr>
            <a:spLocks xmlns:a="http://schemas.openxmlformats.org/drawingml/2006/main" noGrp="1"/>
          </p:cNvSpPr>
          <p:nvPr/>
        </p:nvSpPr>
        <p:spPr>
          <a:xfrm xmlns:a="http://schemas.openxmlformats.org/drawingml/2006/main">
            <a:off x="1495425" y="7115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physics model estimates speed and loss, then scores frequency, bandwidth, duration, level and window.</a:t>
            </a:r>
          </a:p>
        </p:txBody>
      </p:sp>
      <p:sp>
        <p:nvSpPr>
          <p:cNvPr id="14" name="">
            <a:extLst xmlns:a="http://schemas.openxmlformats.org/drawingml/2006/main">
              <a:ext uri="{FF2B5EF4-FFF2-40B4-BE49-F238E27FC236}">
                <a16:creationId xmlns:a16="http://schemas.microsoft.com/office/drawing/2014/main" id="{CA87A26B-515C-424C-B0FD-8C68771CD0BA}"/>
              </a:ext>
            </a:extLst>
          </p:cNvPr>
          <p:cNvSpPr>
            <a:spLocks xmlns:a="http://schemas.openxmlformats.org/drawingml/2006/main" noGrp="1"/>
          </p:cNvSpPr>
          <p:nvPr/>
        </p:nvSpPr>
        <p:spPr>
          <a:xfrm xmlns:a="http://schemas.openxmlformats.org/drawingml/2006/main">
            <a:off x="857250" y="7715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27FDDB4C-CD06-48F1-BEF6-E5219F77CC7E}"/>
              </a:ext>
            </a:extLst>
          </p:cNvPr>
          <p:cNvSpPr>
            <a:spLocks xmlns:a="http://schemas.openxmlformats.org/drawingml/2006/main" noGrp="1"/>
          </p:cNvSpPr>
          <p:nvPr/>
        </p:nvSpPr>
        <p:spPr>
          <a:xfrm xmlns:a="http://schemas.openxmlformats.org/drawingml/2006/main">
            <a:off x="1495425" y="7715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Build the waveform</a:t>
            </a:r>
          </a:p>
        </p:txBody>
      </p:sp>
      <p:sp>
        <p:nvSpPr>
          <p:cNvPr id="16" name="">
            <a:extLst xmlns:a="http://schemas.openxmlformats.org/drawingml/2006/main">
              <a:ext uri="{FF2B5EF4-FFF2-40B4-BE49-F238E27FC236}">
                <a16:creationId xmlns:a16="http://schemas.microsoft.com/office/drawing/2014/main" id="{A464D5E6-53AD-47EA-BE55-01FAEFFFF262}"/>
              </a:ext>
            </a:extLst>
          </p:cNvPr>
          <p:cNvSpPr>
            <a:spLocks xmlns:a="http://schemas.openxmlformats.org/drawingml/2006/main" noGrp="1"/>
          </p:cNvSpPr>
          <p:nvPr/>
        </p:nvSpPr>
        <p:spPr>
          <a:xfrm xmlns:a="http://schemas.openxmlformats.org/drawingml/2006/main">
            <a:off x="1495425" y="8067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CW, LFM, geometric sweep and Barker-13 signals are generated and inspected in software.</a:t>
            </a:r>
          </a:p>
        </p:txBody>
      </p:sp>
      <p:sp>
        <p:nvSpPr>
          <p:cNvPr id="17" name="">
            <a:extLst xmlns:a="http://schemas.openxmlformats.org/drawingml/2006/main">
              <a:ext uri="{FF2B5EF4-FFF2-40B4-BE49-F238E27FC236}">
                <a16:creationId xmlns:a16="http://schemas.microsoft.com/office/drawing/2014/main" id="{E4B435A0-1027-481E-975A-091DF9EFBFAA}"/>
              </a:ext>
            </a:extLst>
          </p:cNvPr>
          <p:cNvSpPr>
            <a:spLocks xmlns:a="http://schemas.openxmlformats.org/drawingml/2006/main" noGrp="1"/>
          </p:cNvSpPr>
          <p:nvPr/>
        </p:nvSpPr>
        <p:spPr>
          <a:xfrm xmlns:a="http://schemas.openxmlformats.org/drawingml/2006/main">
            <a:off x="857250" y="8667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04A72CFA-472A-4678-BE42-451321B5DDD1}"/>
              </a:ext>
            </a:extLst>
          </p:cNvPr>
          <p:cNvSpPr>
            <a:spLocks xmlns:a="http://schemas.openxmlformats.org/drawingml/2006/main" noGrp="1"/>
          </p:cNvSpPr>
          <p:nvPr/>
        </p:nvSpPr>
        <p:spPr>
          <a:xfrm xmlns:a="http://schemas.openxmlformats.org/drawingml/2006/main">
            <a:off x="1495425" y="8667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Deliver and verify</a:t>
            </a:r>
          </a:p>
        </p:txBody>
      </p:sp>
      <p:sp>
        <p:nvSpPr>
          <p:cNvPr id="19" name="">
            <a:extLst xmlns:a="http://schemas.openxmlformats.org/drawingml/2006/main">
              <a:ext uri="{FF2B5EF4-FFF2-40B4-BE49-F238E27FC236}">
                <a16:creationId xmlns:a16="http://schemas.microsoft.com/office/drawing/2014/main" id="{341979EB-E7A8-4357-83B4-32943FF78595}"/>
              </a:ext>
            </a:extLst>
          </p:cNvPr>
          <p:cNvSpPr>
            <a:spLocks xmlns:a="http://schemas.openxmlformats.org/drawingml/2006/main" noGrp="1"/>
          </p:cNvSpPr>
          <p:nvPr/>
        </p:nvSpPr>
        <p:spPr>
          <a:xfrm xmlns:a="http://schemas.openxmlformats.org/drawingml/2006/main">
            <a:off x="1495425" y="9020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timer/DMA-to-DAC output path is designed for stable ultrasonic transmission. Scope and tank tests are next.</a:t>
            </a:r>
          </a:p>
        </p:txBody>
      </p:sp>
      <p:sp>
        <p:nvSpPr>
          <p:cNvPr id="20" name="">
            <a:extLst xmlns:a="http://schemas.openxmlformats.org/drawingml/2006/main">
              <a:ext uri="{FF2B5EF4-FFF2-40B4-BE49-F238E27FC236}">
                <a16:creationId xmlns:a16="http://schemas.microsoft.com/office/drawing/2014/main" id="{02BDA289-471A-4859-B379-BB570ADBE110}"/>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21" name="">
            <a:extLst xmlns:a="http://schemas.openxmlformats.org/drawingml/2006/main">
              <a:ext uri="{FF2B5EF4-FFF2-40B4-BE49-F238E27FC236}">
                <a16:creationId xmlns:a16="http://schemas.microsoft.com/office/drawing/2014/main" id="{42D5BD8B-96B9-4505-BD1B-59C22AF01595}"/>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An AUV crosses water whose temperature, salinity, depth and turbidity vary. Those changes alter sound speed and acoustic loss, so one preset ping cannot always balance useful range, target detail and energy. The challenge is to retune each pulse in real time without tying up the vehicle’s processor.</a:t>
            </a:r>
          </a:p>
        </p:txBody>
      </p:sp>
      <p:sp>
        <p:nvSpPr>
          <p:cNvPr id="22" name="">
            <a:extLst xmlns:a="http://schemas.openxmlformats.org/drawingml/2006/main">
              <a:ext uri="{FF2B5EF4-FFF2-40B4-BE49-F238E27FC236}">
                <a16:creationId xmlns:a16="http://schemas.microsoft.com/office/drawing/2014/main" id="{02F39CDC-5217-443C-A318-E561C338FD92}"/>
              </a:ext>
            </a:extLst>
          </p:cNvPr>
          <p:cNvSpPr>
            <a:spLocks xmlns:a="http://schemas.openxmlformats.org/drawingml/2006/main" noGrp="1"/>
          </p:cNvSpPr>
          <p:nvPr/>
        </p:nvSpPr>
        <p:spPr>
          <a:xfrm xmlns:a="http://schemas.openxmlformats.org/drawingml/2006/main">
            <a:off x="9525000" y="69818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MODELLED RESPONSE: 5 TO 1,000 NTU</a:t>
            </a:r>
          </a:p>
        </p:txBody>
      </p:sp>
      <p:graphicFrame>
        <p:nvGraphicFramePr>
          <p:cNvPr id="47" name=""/>
          <p:cNvGraphicFramePr/>
          <p:nvPr/>
        </p:nvGraphicFramePr>
        <p:xfrm>
          <a:off xmlns:a="http://schemas.openxmlformats.org/drawingml/2006/main" x="9525000" y="7381875"/>
          <a:ext xmlns:a="http://schemas.openxmlformats.org/drawingml/2006/main" cx="8001000" cy="2152650"/>
        </p:xfrm>
        <a:graphic xmlns:a="http://schemas.openxmlformats.org/drawingml/2006/main">
          <a:graphicData uri="http://schemas.openxmlformats.org/drawingml/2006/table">
            <a:tbl>
              <a:tblPr firstRow="1" bandRow="0"/>
              <a:tblGrid>
                <a:gridCol w="3238500"/>
                <a:gridCol w="2381250"/>
                <a:gridCol w="2381250"/>
              </a:tblGrid>
              <a:tr h="538163">
                <a:tc>
                  <a:txBody>
                    <a:bodyPr wrap="square" lIns="95250" tIns="57150" rIns="76200" bIns="47625">
                      <a:noAutofit/>
                    </a:bodyPr>
                    <a:lstStyle/>
                    <a:p>
                      <a:pPr algn="l"/>
                      <a:r>
                        <a:rPr sz="1425" b="1">
                          <a:solidFill>
                            <a:srgbClr val="FFFFFF"/>
                          </a:solidFill>
                          <a:latin typeface="Arial"/>
                          <a:ea typeface="Arial"/>
                          <a:cs typeface="Arial"/>
                        </a:rPr>
                        <a:t>PARAMETER</a:t>
                      </a:r>
                    </a:p>
                  </a:txBody>
                  <a:tcPr marL="91440" marR="91440" marT="45720" marB="45720">
                    <a:solidFill>
                      <a:srgbClr val="17485A"/>
                    </a:solidFill>
                  </a:tcPr>
                </a:tc>
                <a:tc>
                  <a:txBody>
                    <a:bodyPr wrap="square" lIns="95250" tIns="57150" rIns="76200" bIns="47625">
                      <a:noAutofit/>
                    </a:bodyPr>
                    <a:lstStyle/>
                    <a:p>
                      <a:pPr algn="ctr"/>
                      <a:r>
                        <a:rPr sz="1425" b="1">
                          <a:solidFill>
                            <a:srgbClr val="FFFFFF"/>
                          </a:solidFill>
                          <a:latin typeface="Arial"/>
                          <a:ea typeface="Arial"/>
                          <a:cs typeface="Arial"/>
                        </a:rPr>
                        <a:t>5 NTU</a:t>
                      </a:r>
                    </a:p>
                  </a:txBody>
                  <a:tcPr marL="91440" marR="91440" marT="45720" marB="45720">
                    <a:solidFill>
                      <a:srgbClr val="17485A"/>
                    </a:solidFill>
                  </a:tcPr>
                </a:tc>
                <a:tc>
                  <a:txBody>
                    <a:bodyPr wrap="square" lIns="95250" tIns="57150" rIns="76200" bIns="47625">
                      <a:noAutofit/>
                    </a:bodyPr>
                    <a:lstStyle/>
                    <a:p>
                      <a:pPr algn="ctr"/>
                      <a:r>
                        <a:rPr sz="1425" b="1">
                          <a:solidFill>
                            <a:srgbClr val="FFFFFF"/>
                          </a:solidFill>
                          <a:latin typeface="Arial"/>
                          <a:ea typeface="Arial"/>
                          <a:cs typeface="Arial"/>
                        </a:rPr>
                        <a:t>1,000 NTU</a:t>
                      </a:r>
                    </a:p>
                  </a:txBody>
                  <a:tcPr marL="91440" marR="91440" marT="45720" marB="45720">
                    <a:solidFill>
                      <a:srgbClr val="17485A"/>
                    </a:solidFill>
                  </a:tcPr>
                </a:tc>
              </a:tr>
              <a:tr h="538163">
                <a:tc>
                  <a:txBody>
                    <a:bodyPr wrap="square" lIns="95250" tIns="57150" rIns="76200" bIns="47625">
                      <a:noAutofit/>
                    </a:bodyPr>
                    <a:lstStyle/>
                    <a:p>
                      <a:pPr algn="l"/>
                      <a:r>
                        <a:rPr sz="1500" b="0">
                          <a:solidFill>
                            <a:srgbClr val="173447"/>
                          </a:solidFill>
                          <a:latin typeface="Arial"/>
                          <a:ea typeface="Arial"/>
                          <a:cs typeface="Arial"/>
                        </a:rPr>
                        <a:t>Centre frequency (kHz)</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351</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148</a:t>
                      </a:r>
                    </a:p>
                  </a:txBody>
                  <a:tcPr marL="91440" marR="91440" marT="45720" marB="45720">
                    <a:solidFill>
                      <a:srgbClr val="F1F8F9"/>
                    </a:solidFill>
                  </a:tcPr>
                </a:tc>
              </a:tr>
              <a:tr h="538163">
                <a:tc>
                  <a:txBody>
                    <a:bodyPr wrap="square" lIns="95250" tIns="57150" rIns="76200" bIns="47625">
                      <a:noAutofit/>
                    </a:bodyPr>
                    <a:lstStyle/>
                    <a:p>
                      <a:pPr algn="l"/>
                      <a:r>
                        <a:rPr sz="1500" b="0">
                          <a:solidFill>
                            <a:srgbClr val="173447"/>
                          </a:solidFill>
                          <a:latin typeface="Arial"/>
                          <a:ea typeface="Arial"/>
                          <a:cs typeface="Arial"/>
                        </a:rPr>
                        <a:t>Bandwidth (kHz)</a:t>
                      </a:r>
                    </a:p>
                  </a:txBody>
                  <a:tcPr marL="91440" marR="91440" marT="45720" marB="45720">
                    <a:solidFill>
                      <a:srgbClr val="FFFFFF"/>
                    </a:solidFill>
                  </a:tcPr>
                </a:tc>
                <a:tc>
                  <a:txBody>
                    <a:bodyPr wrap="square" lIns="95250" tIns="57150" rIns="76200" bIns="47625">
                      <a:noAutofit/>
                    </a:bodyPr>
                    <a:lstStyle/>
                    <a:p>
                      <a:pPr algn="ctr"/>
                      <a:r>
                        <a:rPr sz="1950" b="1">
                          <a:solidFill>
                            <a:srgbClr val="173447"/>
                          </a:solidFill>
                          <a:latin typeface="Arial"/>
                          <a:ea typeface="Arial"/>
                          <a:cs typeface="Arial"/>
                        </a:rPr>
                        <a:t>299</a:t>
                      </a:r>
                    </a:p>
                  </a:txBody>
                  <a:tcPr marL="91440" marR="91440" marT="45720" marB="45720">
                    <a:solidFill>
                      <a:srgbClr val="FFFFFF"/>
                    </a:solidFill>
                  </a:tcPr>
                </a:tc>
                <a:tc>
                  <a:txBody>
                    <a:bodyPr wrap="square" lIns="95250" tIns="57150" rIns="76200" bIns="47625">
                      <a:noAutofit/>
                    </a:bodyPr>
                    <a:lstStyle/>
                    <a:p>
                      <a:pPr algn="ctr"/>
                      <a:r>
                        <a:rPr sz="1950" b="1">
                          <a:solidFill>
                            <a:srgbClr val="173447"/>
                          </a:solidFill>
                          <a:latin typeface="Arial"/>
                          <a:ea typeface="Arial"/>
                          <a:cs typeface="Arial"/>
                        </a:rPr>
                        <a:t>96</a:t>
                      </a:r>
                    </a:p>
                  </a:txBody>
                  <a:tcPr marL="91440" marR="91440" marT="45720" marB="45720">
                    <a:solidFill>
                      <a:srgbClr val="FFFFFF"/>
                    </a:solidFill>
                  </a:tcPr>
                </a:tc>
              </a:tr>
              <a:tr h="538163">
                <a:tc>
                  <a:txBody>
                    <a:bodyPr wrap="square" lIns="95250" tIns="57150" rIns="76200" bIns="47625">
                      <a:noAutofit/>
                    </a:bodyPr>
                    <a:lstStyle/>
                    <a:p>
                      <a:pPr algn="l"/>
                      <a:r>
                        <a:rPr sz="1500" b="0">
                          <a:solidFill>
                            <a:srgbClr val="173447"/>
                          </a:solidFill>
                          <a:latin typeface="Arial"/>
                          <a:ea typeface="Arial"/>
                          <a:cs typeface="Arial"/>
                        </a:rPr>
                        <a:t>Range resolution (mm)</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2.6</a:t>
                      </a:r>
                    </a:p>
                  </a:txBody>
                  <a:tcPr marL="91440" marR="91440" marT="45720" marB="45720">
                    <a:solidFill>
                      <a:srgbClr val="F1F8F9"/>
                    </a:solidFill>
                  </a:tcPr>
                </a:tc>
                <a:tc>
                  <a:txBody>
                    <a:bodyPr wrap="square" lIns="95250" tIns="57150" rIns="76200" bIns="47625">
                      <a:noAutofit/>
                    </a:bodyPr>
                    <a:lstStyle/>
                    <a:p>
                      <a:pPr algn="ctr"/>
                      <a:r>
                        <a:rPr sz="1950" b="1">
                          <a:solidFill>
                            <a:srgbClr val="173447"/>
                          </a:solidFill>
                          <a:latin typeface="Arial"/>
                          <a:ea typeface="Arial"/>
                          <a:cs typeface="Arial"/>
                        </a:rPr>
                        <a:t>8.0</a:t>
                      </a:r>
                    </a:p>
                  </a:txBody>
                  <a:tcPr marL="91440" marR="91440" marT="45720" marB="45720">
                    <a:solidFill>
                      <a:srgbClr val="F1F8F9"/>
                    </a:solidFill>
                  </a:tcPr>
                </a:tc>
              </a:tr>
            </a:tbl>
          </a:graphicData>
        </a:graphic>
      </p:graphicFrame>
      <p:sp>
        <p:nvSpPr>
          <p:cNvPr id="24" name="">
            <a:extLst xmlns:a="http://schemas.openxmlformats.org/drawingml/2006/main">
              <a:ext uri="{FF2B5EF4-FFF2-40B4-BE49-F238E27FC236}">
                <a16:creationId xmlns:a16="http://schemas.microsoft.com/office/drawing/2014/main" id="{F6EC64BC-45AB-4571-9713-D4DAA890E6D2}"/>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47883"/>
                </a:solidFill>
                <a:latin typeface="Arial"/>
                <a:ea typeface="Arial"/>
                <a:cs typeface="Arial"/>
              </a:defRPr>
            </a:pPr>
            <a:r>
              <a:rPr sz="1425" b="0">
                <a:solidFill>
                  <a:srgbClr val="647883"/>
                </a:solidFill>
                <a:latin typeface="Arial"/>
                <a:ea typeface="Arial"/>
                <a:cs typeface="Arial"/>
              </a:rPr>
              <a:t>Modelled sweep, not tank measurements. Sensing and waveform software operate; adaptive ultrasonic output awaits bench validation.</a:t>
            </a:r>
          </a:p>
        </p:txBody>
      </p:sp>
    </p:spTree>
    <p:extLst>
      <p:ext uri="{BB962C8B-B14F-4D97-AF65-F5344CB8AC3E}">
        <p14:creationId xmlns:p14="http://schemas.microsoft.com/office/powerpoint/2010/main" val="1644616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2026-09-27T11:41:53.6580000Z</dcterms:created>
  <dcterms:modified xsi:type="dcterms:W3CDTF">2026-09-27T11:41:53.6580000Z</dcterms:modified>
</coreProperties>
</file>