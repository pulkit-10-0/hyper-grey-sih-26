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832df2cfba4640" /><Relationship Type="http://schemas.openxmlformats.org/officeDocument/2006/relationships/extended-properties" Target="/docProps/app.xml" Id="Rdd7055c7278f4b95" /><Relationship Type="http://schemas.openxmlformats.org/officeDocument/2006/relationships/officeDocument" Target="/ppt/presentation.xml" Id="Rd05d9126546b4f41" /></Relationships>
</file>

<file path=ppt/presentation.xml><?xml version="1.0" encoding="utf-8"?>
<p:presentation xmlns:p="http://schemas.openxmlformats.org/presentationml/2006/main">
  <p:sldMasterIdLst>
    <p:sldMasterId xmlns:r="http://schemas.openxmlformats.org/officeDocument/2006/relationships" id="2147483648" r:id="Re086312271b7420d"/>
  </p:sldMasterIdLst>
  <p:notesMasterIdLst>
    <p:notesMasterId xmlns:r="http://schemas.openxmlformats.org/officeDocument/2006/relationships" r:id="Rc847ac1718ff48c4"/>
  </p:notesMasterIdLst>
  <p:sldIdLst>
    <p:sldId xmlns:r="http://schemas.openxmlformats.org/officeDocument/2006/relationships" id="256" r:id="R366a503a83fd4c04"/>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fd8b7de2934590" /><Relationship Type="http://schemas.openxmlformats.org/officeDocument/2006/relationships/slideMaster" Target="/ppt/slideMasters/slideMaster1.xml" Id="Re086312271b7420d" /><Relationship Type="http://schemas.openxmlformats.org/officeDocument/2006/relationships/notesMaster" Target="/ppt/notesMasters/notesMaster1.xml" Id="Rc847ac1718ff48c4" /><Relationship Type="http://schemas.openxmlformats.org/officeDocument/2006/relationships/presProps" Target="/ppt/presProps.xml" Id="R29b226dbdae4407c" /><Relationship Type="http://schemas.openxmlformats.org/officeDocument/2006/relationships/tableStyles" Target="/ppt/tableStyles.xml" Id="Re9692fe9ee73412d" /><Relationship Type="http://schemas.openxmlformats.org/officeDocument/2006/relationships/slide" Target="/ppt/slides/slide1.xml" Id="R366a503a83fd4c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23956d610d46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1ea99d2d914a87" /><Relationship Type="http://schemas.openxmlformats.org/officeDocument/2006/relationships/notesMaster" Target="/ppt/notesMasters/notesMaster1.xml" Id="R7ba4b86c6c5444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SeaNergy executive-summary.pdf and PS 26058 compliance-matrix.pdf in this repository. The AUV hero image is a generated concept illustration, not a photograph of the prototype. The four waveform families and bench sensor inputs are current software/bench evidence. DMA-driven ultrasonic output, scope tests, and tank measurements remain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db32331f2044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11883e85db470d" /><Relationship Type="http://schemas.openxmlformats.org/officeDocument/2006/relationships/slideLayout" Target="/ppt/slideLayouts/slideLayout1.xml" Id="R57c48e5980554d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c48e5980554d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94a7b8e2764e11" /><Relationship Type="http://schemas.openxmlformats.org/officeDocument/2006/relationships/image" Target="/ppt/media/image.png" Id="R6c849ae93f1a4da2" /><Relationship Type="http://schemas.openxmlformats.org/officeDocument/2006/relationships/notesSlide" Target="/ppt/notesSlides/notesSlide1.xml" Id="Rcae8a6456ceb42e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c849ae93f1a4da2"/>
          <a:srcRect xmlns:a="http://schemas.openxmlformats.org/drawingml/2006/main" l="0" t="24169" r="0" b="24169"/>
          <a:stretch xmlns:a="http://schemas.openxmlformats.org/drawingml/2006/main">
            <a:fillRect l="0" t="0" r="0" b="0"/>
          </a:stretch>
        </p:blipFill>
        <p:spPr>
          <a:xfrm xmlns:a="http://schemas.openxmlformats.org/drawingml/2006/main">
            <a:off x="0" y="0"/>
            <a:ext cx="18288000" cy="2952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7D09DB9-D7E1-435E-8973-071B8613881A}"/>
              </a:ext>
            </a:extLst>
          </p:cNvPr>
          <p:cNvSpPr>
            <a:spLocks xmlns:a="http://schemas.openxmlformats.org/drawingml/2006/main" noGrp="1"/>
          </p:cNvSpPr>
          <p:nvPr/>
        </p:nvSpPr>
        <p:spPr>
          <a:xfrm xmlns:a="http://schemas.openxmlformats.org/drawingml/2006/main">
            <a:off x="838200" y="6000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SeaNergy</a:t>
            </a:r>
          </a:p>
        </p:txBody>
      </p:sp>
      <p:sp>
        <p:nvSpPr>
          <p:cNvPr id="3" name="">
            <a:extLst xmlns:a="http://schemas.openxmlformats.org/drawingml/2006/main">
              <a:ext uri="{FF2B5EF4-FFF2-40B4-BE49-F238E27FC236}">
                <a16:creationId xmlns:a16="http://schemas.microsoft.com/office/drawing/2014/main" id="{996F4759-12FE-49F4-BA2D-3E411226B58A}"/>
              </a:ext>
            </a:extLst>
          </p:cNvPr>
          <p:cNvSpPr>
            <a:spLocks xmlns:a="http://schemas.openxmlformats.org/drawingml/2006/main" noGrp="1"/>
          </p:cNvSpPr>
          <p:nvPr/>
        </p:nvSpPr>
        <p:spPr>
          <a:xfrm xmlns:a="http://schemas.openxmlformats.org/drawingml/2006/main">
            <a:off x="885825" y="1562100"/>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D6F5F6"/>
                </a:solidFill>
                <a:latin typeface="Arial"/>
                <a:ea typeface="Arial"/>
                <a:cs typeface="Arial"/>
              </a:defRPr>
            </a:pPr>
            <a:r>
              <a:rPr sz="2625" b="0">
                <a:solidFill>
                  <a:srgbClr val="D6F5F6"/>
                </a:solidFill>
                <a:latin typeface="Arial"/>
                <a:ea typeface="Arial"/>
                <a:cs typeface="Arial"/>
              </a:rPr>
              <a:t>Adaptive sonar transmission for changing water</a:t>
            </a:r>
          </a:p>
        </p:txBody>
      </p:sp>
      <p:sp>
        <p:nvSpPr>
          <p:cNvPr id="4" name="">
            <a:extLst xmlns:a="http://schemas.openxmlformats.org/drawingml/2006/main">
              <a:ext uri="{FF2B5EF4-FFF2-40B4-BE49-F238E27FC236}">
                <a16:creationId xmlns:a16="http://schemas.microsoft.com/office/drawing/2014/main" id="{7B81957C-9427-4CFC-AF98-780EBA7D726E}"/>
              </a:ext>
            </a:extLst>
          </p:cNvPr>
          <p:cNvSpPr>
            <a:spLocks xmlns:a="http://schemas.openxmlformats.org/drawingml/2006/main" noGrp="1"/>
          </p:cNvSpPr>
          <p:nvPr/>
        </p:nvSpPr>
        <p:spPr>
          <a:xfrm xmlns:a="http://schemas.openxmlformats.org/drawingml/2006/main">
            <a:off x="904875" y="2438400"/>
            <a:ext cx="923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89D7DB"/>
                </a:solidFill>
                <a:latin typeface="Arial"/>
                <a:ea typeface="Arial"/>
                <a:cs typeface="Arial"/>
              </a:defRPr>
            </a:pPr>
            <a:r>
              <a:rPr sz="1575" b="1">
                <a:solidFill>
                  <a:srgbClr val="89D7DB"/>
                </a:solidFill>
                <a:latin typeface="Arial"/>
                <a:ea typeface="Arial"/>
                <a:cs typeface="Arial"/>
              </a:rPr>
              <a:t>SIH 2026   |   PS 26058   |   TEAM HYPER GREY</a:t>
            </a:r>
          </a:p>
        </p:txBody>
      </p:sp>
      <p:sp>
        <p:nvSpPr>
          <p:cNvPr id="5" name="">
            <a:extLst xmlns:a="http://schemas.openxmlformats.org/drawingml/2006/main">
              <a:ext uri="{FF2B5EF4-FFF2-40B4-BE49-F238E27FC236}">
                <a16:creationId xmlns:a16="http://schemas.microsoft.com/office/drawing/2014/main" id="{ACC90930-3450-461C-940E-F9FAB1BABACB}"/>
              </a:ext>
            </a:extLst>
          </p:cNvPr>
          <p:cNvSpPr>
            <a:spLocks xmlns:a="http://schemas.openxmlformats.org/drawingml/2006/main" noGrp="1"/>
          </p:cNvSpPr>
          <p:nvPr/>
        </p:nvSpPr>
        <p:spPr>
          <a:xfrm xmlns:a="http://schemas.openxmlformats.org/drawingml/2006/main">
            <a:off x="857250" y="32480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C8C"/>
                </a:solidFill>
                <a:latin typeface="Arial"/>
                <a:ea typeface="Arial"/>
                <a:cs typeface="Arial"/>
              </a:defRPr>
            </a:pPr>
            <a:r>
              <a:rPr sz="1800" b="1">
                <a:solidFill>
                  <a:srgbClr val="087C8C"/>
                </a:solidFill>
                <a:latin typeface="Arial"/>
                <a:ea typeface="Arial"/>
                <a:cs typeface="Arial"/>
              </a:rPr>
              <a:t>PROPOSED SOLUTION</a:t>
            </a:r>
          </a:p>
        </p:txBody>
      </p:sp>
      <p:sp>
        <p:nvSpPr>
          <p:cNvPr id="6" name="">
            <a:extLst xmlns:a="http://schemas.openxmlformats.org/drawingml/2006/main">
              <a:ext uri="{FF2B5EF4-FFF2-40B4-BE49-F238E27FC236}">
                <a16:creationId xmlns:a16="http://schemas.microsoft.com/office/drawing/2014/main" id="{5F904C46-E636-4CD5-9ED8-12A666CA5B1B}"/>
              </a:ext>
            </a:extLst>
          </p:cNvPr>
          <p:cNvSpPr>
            <a:spLocks xmlns:a="http://schemas.openxmlformats.org/drawingml/2006/main" noGrp="1"/>
          </p:cNvSpPr>
          <p:nvPr/>
        </p:nvSpPr>
        <p:spPr>
          <a:xfrm xmlns:a="http://schemas.openxmlformats.org/drawingml/2006/main">
            <a:off x="857250" y="3667125"/>
            <a:ext cx="165735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SeaNergy is a sensor-informed, software-defined sonar transmitter payload for AUVs, designed to turn changing water conditions into a tailored acoustic ping. It models the channel, selects frequency, bandwidth, duration and power, then synthesizes the waveform for an efficient transmit chain while recording why that pulse was chosen.</a:t>
            </a:r>
          </a:p>
        </p:txBody>
      </p:sp>
      <p:sp>
        <p:nvSpPr>
          <p:cNvPr id="7" name="">
            <a:extLst xmlns:a="http://schemas.openxmlformats.org/drawingml/2006/main">
              <a:ext uri="{FF2B5EF4-FFF2-40B4-BE49-F238E27FC236}">
                <a16:creationId xmlns:a16="http://schemas.microsoft.com/office/drawing/2014/main" id="{91A8B1F6-55C4-4713-949E-752B1B372CFD}"/>
              </a:ext>
            </a:extLst>
          </p:cNvPr>
          <p:cNvSpPr>
            <a:spLocks xmlns:a="http://schemas.openxmlformats.org/drawingml/2006/main" noGrp="1"/>
          </p:cNvSpPr>
          <p:nvPr/>
        </p:nvSpPr>
        <p:spPr>
          <a:xfrm xmlns:a="http://schemas.openxmlformats.org/drawingml/2006/main">
            <a:off x="857250" y="5219700"/>
            <a:ext cx="781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FROM WATER TO PING</a:t>
            </a:r>
          </a:p>
        </p:txBody>
      </p:sp>
      <p:sp>
        <p:nvSpPr>
          <p:cNvPr id="8" name="">
            <a:extLst xmlns:a="http://schemas.openxmlformats.org/drawingml/2006/main">
              <a:ext uri="{FF2B5EF4-FFF2-40B4-BE49-F238E27FC236}">
                <a16:creationId xmlns:a16="http://schemas.microsoft.com/office/drawing/2014/main" id="{07C6A01B-51E0-409F-9828-00DA9F8EF578}"/>
              </a:ext>
            </a:extLst>
          </p:cNvPr>
          <p:cNvSpPr>
            <a:spLocks xmlns:a="http://schemas.openxmlformats.org/drawingml/2006/main" noGrp="1"/>
          </p:cNvSpPr>
          <p:nvPr/>
        </p:nvSpPr>
        <p:spPr>
          <a:xfrm xmlns:a="http://schemas.openxmlformats.org/drawingml/2006/main">
            <a:off x="857250" y="58102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77E62771-4D56-4404-9510-8ABFD926837D}"/>
              </a:ext>
            </a:extLst>
          </p:cNvPr>
          <p:cNvSpPr>
            <a:spLocks xmlns:a="http://schemas.openxmlformats.org/drawingml/2006/main" noGrp="1"/>
          </p:cNvSpPr>
          <p:nvPr/>
        </p:nvSpPr>
        <p:spPr>
          <a:xfrm xmlns:a="http://schemas.openxmlformats.org/drawingml/2006/main">
            <a:off x="1495425" y="58102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Read the water</a:t>
            </a:r>
          </a:p>
        </p:txBody>
      </p:sp>
      <p:sp>
        <p:nvSpPr>
          <p:cNvPr id="10" name="">
            <a:extLst xmlns:a="http://schemas.openxmlformats.org/drawingml/2006/main">
              <a:ext uri="{FF2B5EF4-FFF2-40B4-BE49-F238E27FC236}">
                <a16:creationId xmlns:a16="http://schemas.microsoft.com/office/drawing/2014/main" id="{DFD2B835-BB2F-4305-BFB5-FAA0041502F8}"/>
              </a:ext>
            </a:extLst>
          </p:cNvPr>
          <p:cNvSpPr>
            <a:spLocks xmlns:a="http://schemas.openxmlformats.org/drawingml/2006/main" noGrp="1"/>
          </p:cNvSpPr>
          <p:nvPr/>
        </p:nvSpPr>
        <p:spPr>
          <a:xfrm xmlns:a="http://schemas.openxmlformats.org/drawingml/2006/main">
            <a:off x="1495425" y="61626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Temperature, TDS and turbidity readings, plus a depth input, describe the conditions for each ping.</a:t>
            </a:r>
          </a:p>
        </p:txBody>
      </p:sp>
      <p:sp>
        <p:nvSpPr>
          <p:cNvPr id="11" name="">
            <a:extLst xmlns:a="http://schemas.openxmlformats.org/drawingml/2006/main">
              <a:ext uri="{FF2B5EF4-FFF2-40B4-BE49-F238E27FC236}">
                <a16:creationId xmlns:a16="http://schemas.microsoft.com/office/drawing/2014/main" id="{5980CCF5-29D4-4726-9E03-F2ED57901895}"/>
              </a:ext>
            </a:extLst>
          </p:cNvPr>
          <p:cNvSpPr>
            <a:spLocks xmlns:a="http://schemas.openxmlformats.org/drawingml/2006/main" noGrp="1"/>
          </p:cNvSpPr>
          <p:nvPr/>
        </p:nvSpPr>
        <p:spPr>
          <a:xfrm xmlns:a="http://schemas.openxmlformats.org/drawingml/2006/main">
            <a:off x="857250" y="67627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95674A73-7CDD-41DF-B88B-868C40559AF7}"/>
              </a:ext>
            </a:extLst>
          </p:cNvPr>
          <p:cNvSpPr>
            <a:spLocks xmlns:a="http://schemas.openxmlformats.org/drawingml/2006/main" noGrp="1"/>
          </p:cNvSpPr>
          <p:nvPr/>
        </p:nvSpPr>
        <p:spPr>
          <a:xfrm xmlns:a="http://schemas.openxmlformats.org/drawingml/2006/main">
            <a:off x="1495425" y="67627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Choose the pulse</a:t>
            </a:r>
          </a:p>
        </p:txBody>
      </p:sp>
      <p:sp>
        <p:nvSpPr>
          <p:cNvPr id="13" name="">
            <a:extLst xmlns:a="http://schemas.openxmlformats.org/drawingml/2006/main">
              <a:ext uri="{FF2B5EF4-FFF2-40B4-BE49-F238E27FC236}">
                <a16:creationId xmlns:a16="http://schemas.microsoft.com/office/drawing/2014/main" id="{EFA1C54E-9C89-4204-9431-71FB4E75ADF4}"/>
              </a:ext>
            </a:extLst>
          </p:cNvPr>
          <p:cNvSpPr>
            <a:spLocks xmlns:a="http://schemas.openxmlformats.org/drawingml/2006/main" noGrp="1"/>
          </p:cNvSpPr>
          <p:nvPr/>
        </p:nvSpPr>
        <p:spPr>
          <a:xfrm xmlns:a="http://schemas.openxmlformats.org/drawingml/2006/main">
            <a:off x="1495425" y="71151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The physics model estimates speed and loss, then scores frequency, bandwidth, duration, level and window.</a:t>
            </a:r>
          </a:p>
        </p:txBody>
      </p:sp>
      <p:sp>
        <p:nvSpPr>
          <p:cNvPr id="14" name="">
            <a:extLst xmlns:a="http://schemas.openxmlformats.org/drawingml/2006/main">
              <a:ext uri="{FF2B5EF4-FFF2-40B4-BE49-F238E27FC236}">
                <a16:creationId xmlns:a16="http://schemas.microsoft.com/office/drawing/2014/main" id="{6554E9B3-FF50-488E-9F8F-284AF6C81EEA}"/>
              </a:ext>
            </a:extLst>
          </p:cNvPr>
          <p:cNvSpPr>
            <a:spLocks xmlns:a="http://schemas.openxmlformats.org/drawingml/2006/main" noGrp="1"/>
          </p:cNvSpPr>
          <p:nvPr/>
        </p:nvSpPr>
        <p:spPr>
          <a:xfrm xmlns:a="http://schemas.openxmlformats.org/drawingml/2006/main">
            <a:off x="857250" y="77152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38B69AD5-06DC-496B-9B1D-E6E89702D132}"/>
              </a:ext>
            </a:extLst>
          </p:cNvPr>
          <p:cNvSpPr>
            <a:spLocks xmlns:a="http://schemas.openxmlformats.org/drawingml/2006/main" noGrp="1"/>
          </p:cNvSpPr>
          <p:nvPr/>
        </p:nvSpPr>
        <p:spPr>
          <a:xfrm xmlns:a="http://schemas.openxmlformats.org/drawingml/2006/main">
            <a:off x="1495425" y="77152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Build the waveform</a:t>
            </a:r>
          </a:p>
        </p:txBody>
      </p:sp>
      <p:sp>
        <p:nvSpPr>
          <p:cNvPr id="16" name="">
            <a:extLst xmlns:a="http://schemas.openxmlformats.org/drawingml/2006/main">
              <a:ext uri="{FF2B5EF4-FFF2-40B4-BE49-F238E27FC236}">
                <a16:creationId xmlns:a16="http://schemas.microsoft.com/office/drawing/2014/main" id="{8D717697-7841-49E1-976F-4145FE20A4F3}"/>
              </a:ext>
            </a:extLst>
          </p:cNvPr>
          <p:cNvSpPr>
            <a:spLocks xmlns:a="http://schemas.openxmlformats.org/drawingml/2006/main" noGrp="1"/>
          </p:cNvSpPr>
          <p:nvPr/>
        </p:nvSpPr>
        <p:spPr>
          <a:xfrm xmlns:a="http://schemas.openxmlformats.org/drawingml/2006/main">
            <a:off x="1495425" y="80676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CW, LFM, geometric sweep and Barker-13 signals are generated and inspected in software.</a:t>
            </a:r>
          </a:p>
        </p:txBody>
      </p:sp>
      <p:sp>
        <p:nvSpPr>
          <p:cNvPr id="17" name="">
            <a:extLst xmlns:a="http://schemas.openxmlformats.org/drawingml/2006/main">
              <a:ext uri="{FF2B5EF4-FFF2-40B4-BE49-F238E27FC236}">
                <a16:creationId xmlns:a16="http://schemas.microsoft.com/office/drawing/2014/main" id="{B422C08E-7533-4C59-92D8-336223A64024}"/>
              </a:ext>
            </a:extLst>
          </p:cNvPr>
          <p:cNvSpPr>
            <a:spLocks xmlns:a="http://schemas.openxmlformats.org/drawingml/2006/main" noGrp="1"/>
          </p:cNvSpPr>
          <p:nvPr/>
        </p:nvSpPr>
        <p:spPr>
          <a:xfrm xmlns:a="http://schemas.openxmlformats.org/drawingml/2006/main">
            <a:off x="857250" y="86677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9038DFD7-8770-43C6-B65B-9C6407D70EE3}"/>
              </a:ext>
            </a:extLst>
          </p:cNvPr>
          <p:cNvSpPr>
            <a:spLocks xmlns:a="http://schemas.openxmlformats.org/drawingml/2006/main" noGrp="1"/>
          </p:cNvSpPr>
          <p:nvPr/>
        </p:nvSpPr>
        <p:spPr>
          <a:xfrm xmlns:a="http://schemas.openxmlformats.org/drawingml/2006/main">
            <a:off x="1495425" y="86677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Deliver and verify</a:t>
            </a:r>
          </a:p>
        </p:txBody>
      </p:sp>
      <p:sp>
        <p:nvSpPr>
          <p:cNvPr id="19" name="">
            <a:extLst xmlns:a="http://schemas.openxmlformats.org/drawingml/2006/main">
              <a:ext uri="{FF2B5EF4-FFF2-40B4-BE49-F238E27FC236}">
                <a16:creationId xmlns:a16="http://schemas.microsoft.com/office/drawing/2014/main" id="{782DD6E5-7CD9-40DC-84A4-C4D4D68D322C}"/>
              </a:ext>
            </a:extLst>
          </p:cNvPr>
          <p:cNvSpPr>
            <a:spLocks xmlns:a="http://schemas.openxmlformats.org/drawingml/2006/main" noGrp="1"/>
          </p:cNvSpPr>
          <p:nvPr/>
        </p:nvSpPr>
        <p:spPr>
          <a:xfrm xmlns:a="http://schemas.openxmlformats.org/drawingml/2006/main">
            <a:off x="1495425" y="90201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The timer/DMA-to-DAC output path is designed for stable ultrasonic transmission. Scope and tank tests are next.</a:t>
            </a:r>
          </a:p>
        </p:txBody>
      </p:sp>
      <p:sp>
        <p:nvSpPr>
          <p:cNvPr id="20" name="">
            <a:extLst xmlns:a="http://schemas.openxmlformats.org/drawingml/2006/main">
              <a:ext uri="{FF2B5EF4-FFF2-40B4-BE49-F238E27FC236}">
                <a16:creationId xmlns:a16="http://schemas.microsoft.com/office/drawing/2014/main" id="{2C7D84FB-359B-4B21-9858-6957B3936ECE}"/>
              </a:ext>
            </a:extLst>
          </p:cNvPr>
          <p:cNvSpPr>
            <a:spLocks xmlns:a="http://schemas.openxmlformats.org/drawingml/2006/main" noGrp="1"/>
          </p:cNvSpPr>
          <p:nvPr/>
        </p:nvSpPr>
        <p:spPr>
          <a:xfrm xmlns:a="http://schemas.openxmlformats.org/drawingml/2006/main">
            <a:off x="9525000" y="5219700"/>
            <a:ext cx="800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WHY THE NEED?</a:t>
            </a:r>
          </a:p>
        </p:txBody>
      </p:sp>
      <p:sp>
        <p:nvSpPr>
          <p:cNvPr id="21" name="">
            <a:extLst xmlns:a="http://schemas.openxmlformats.org/drawingml/2006/main">
              <a:ext uri="{FF2B5EF4-FFF2-40B4-BE49-F238E27FC236}">
                <a16:creationId xmlns:a16="http://schemas.microsoft.com/office/drawing/2014/main" id="{1A0C54FC-800C-47F1-907B-8F4C9CBB24AB}"/>
              </a:ext>
            </a:extLst>
          </p:cNvPr>
          <p:cNvSpPr>
            <a:spLocks xmlns:a="http://schemas.openxmlformats.org/drawingml/2006/main" noGrp="1"/>
          </p:cNvSpPr>
          <p:nvPr/>
        </p:nvSpPr>
        <p:spPr>
          <a:xfrm xmlns:a="http://schemas.openxmlformats.org/drawingml/2006/main">
            <a:off x="9525000" y="5638800"/>
            <a:ext cx="800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3447"/>
                </a:solidFill>
                <a:latin typeface="Arial"/>
                <a:ea typeface="Arial"/>
                <a:cs typeface="Arial"/>
              </a:defRPr>
            </a:pPr>
            <a:r>
              <a:rPr sz="1800" b="0">
                <a:solidFill>
                  <a:srgbClr val="173447"/>
                </a:solidFill>
                <a:latin typeface="Arial"/>
                <a:ea typeface="Arial"/>
                <a:cs typeface="Arial"/>
              </a:rPr>
              <a:t>An AUV crosses water whose temperature, salinity, depth and turbidity vary. Those changes alter sound speed and acoustic loss, so one preset ping cannot always balance useful range, target detail and energy. The challenge is to retune each pulse in real time without tying up the vehicle’s processor.</a:t>
            </a:r>
          </a:p>
        </p:txBody>
      </p:sp>
      <p:sp>
        <p:nvSpPr>
          <p:cNvPr id="22" name="">
            <a:extLst xmlns:a="http://schemas.openxmlformats.org/drawingml/2006/main">
              <a:ext uri="{FF2B5EF4-FFF2-40B4-BE49-F238E27FC236}">
                <a16:creationId xmlns:a16="http://schemas.microsoft.com/office/drawing/2014/main" id="{7778C630-4F0F-4759-99F6-25594F299423}"/>
              </a:ext>
            </a:extLst>
          </p:cNvPr>
          <p:cNvSpPr>
            <a:spLocks xmlns:a="http://schemas.openxmlformats.org/drawingml/2006/main" noGrp="1"/>
          </p:cNvSpPr>
          <p:nvPr/>
        </p:nvSpPr>
        <p:spPr>
          <a:xfrm xmlns:a="http://schemas.openxmlformats.org/drawingml/2006/main">
            <a:off x="9525000" y="6981825"/>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PS 26058: CURRENT EVIDENCE AND NEXT TEST</a:t>
            </a:r>
          </a:p>
        </p:txBody>
      </p:sp>
      <p:graphicFrame>
        <p:nvGraphicFramePr>
          <p:cNvPr id="47" name=""/>
          <p:cNvGraphicFramePr/>
          <p:nvPr/>
        </p:nvGraphicFramePr>
        <p:xfrm>
          <a:off xmlns:a="http://schemas.openxmlformats.org/drawingml/2006/main" x="9525000" y="7381875"/>
          <a:ext xmlns:a="http://schemas.openxmlformats.org/drawingml/2006/main" cx="8001000" cy="2152650"/>
        </p:xfrm>
        <a:graphic xmlns:a="http://schemas.openxmlformats.org/drawingml/2006/main">
          <a:graphicData uri="http://schemas.openxmlformats.org/drawingml/2006/table">
            <a:tbl>
              <a:tblPr firstRow="1" bandRow="0"/>
              <a:tblGrid>
                <a:gridCol w="1895475"/>
                <a:gridCol w="3171825"/>
                <a:gridCol w="2933700"/>
              </a:tblGrid>
              <a:tr h="538163">
                <a:tc>
                  <a:txBody>
                    <a:bodyPr wrap="square" lIns="95250" tIns="57150" rIns="76200" bIns="47625">
                      <a:noAutofit/>
                    </a:bodyPr>
                    <a:lstStyle/>
                    <a:p>
                      <a:r>
                        <a:rPr sz="1350" b="1">
                          <a:solidFill>
                            <a:srgbClr val="FFFFFF"/>
                          </a:solidFill>
                          <a:latin typeface="Arial"/>
                          <a:ea typeface="Arial"/>
                          <a:cs typeface="Arial"/>
                        </a:rPr>
                        <a:t>PS REQUIREMENT</a:t>
                      </a:r>
                    </a:p>
                  </a:txBody>
                  <a:tcPr marL="91440" marR="91440" marT="45720" marB="45720">
                    <a:solidFill>
                      <a:srgbClr val="17485A"/>
                    </a:solidFill>
                  </a:tcPr>
                </a:tc>
                <a:tc>
                  <a:txBody>
                    <a:bodyPr wrap="square" lIns="95250" tIns="57150" rIns="76200" bIns="47625">
                      <a:noAutofit/>
                    </a:bodyPr>
                    <a:lstStyle/>
                    <a:p>
                      <a:r>
                        <a:rPr sz="1350" b="1">
                          <a:solidFill>
                            <a:srgbClr val="FFFFFF"/>
                          </a:solidFill>
                          <a:latin typeface="Arial"/>
                          <a:ea typeface="Arial"/>
                          <a:cs typeface="Arial"/>
                        </a:rPr>
                        <a:t>CURRENT EVIDENCE</a:t>
                      </a:r>
                    </a:p>
                  </a:txBody>
                  <a:tcPr marL="91440" marR="91440" marT="45720" marB="45720">
                    <a:solidFill>
                      <a:srgbClr val="17485A"/>
                    </a:solidFill>
                  </a:tcPr>
                </a:tc>
                <a:tc>
                  <a:txBody>
                    <a:bodyPr wrap="square" lIns="95250" tIns="57150" rIns="76200" bIns="47625">
                      <a:noAutofit/>
                    </a:bodyPr>
                    <a:lstStyle/>
                    <a:p>
                      <a:r>
                        <a:rPr sz="1350" b="1">
                          <a:solidFill>
                            <a:srgbClr val="FFFFFF"/>
                          </a:solidFill>
                          <a:latin typeface="Arial"/>
                          <a:ea typeface="Arial"/>
                          <a:cs typeface="Arial"/>
                        </a:rPr>
                        <a:t>NEXT VALIDATION</a:t>
                      </a:r>
                    </a:p>
                  </a:txBody>
                  <a:tcPr marL="91440" marR="91440" marT="45720" marB="45720">
                    <a:solidFill>
                      <a:srgbClr val="17485A"/>
                    </a:solidFill>
                  </a:tcPr>
                </a:tc>
              </a:tr>
              <a:tr h="538163">
                <a:tc>
                  <a:txBody>
                    <a:bodyPr wrap="square" lIns="95250" tIns="57150" rIns="76200" bIns="47625">
                      <a:noAutofit/>
                    </a:bodyPr>
                    <a:lstStyle/>
                    <a:p>
                      <a:r>
                        <a:rPr sz="1500" b="1">
                          <a:solidFill>
                            <a:srgbClr val="173447"/>
                          </a:solidFill>
                          <a:latin typeface="Arial"/>
                          <a:ea typeface="Arial"/>
                          <a:cs typeface="Arial"/>
                        </a:rPr>
                        <a:t>Water inputs</a:t>
                      </a:r>
                    </a:p>
                  </a:txBody>
                  <a:tcPr marL="91440" marR="91440" marT="45720" marB="45720">
                    <a:solidFill>
                      <a:srgbClr val="F1F8F9"/>
                    </a:solidFill>
                  </a:tcPr>
                </a:tc>
                <a:tc>
                  <a:txBody>
                    <a:bodyPr wrap="square" lIns="95250" tIns="57150" rIns="76200" bIns="47625">
                      <a:noAutofit/>
                    </a:bodyPr>
                    <a:lstStyle/>
                    <a:p>
                      <a:r>
                        <a:rPr sz="1500" b="0">
                          <a:solidFill>
                            <a:srgbClr val="173447"/>
                          </a:solidFill>
                          <a:latin typeface="Arial"/>
                          <a:ea typeface="Arial"/>
                          <a:cs typeface="Arial"/>
                        </a:rPr>
                        <a:t>T, TDS, turbidity and controls</a:t>
                      </a:r>
                    </a:p>
                  </a:txBody>
                  <a:tcPr marL="91440" marR="91440" marT="45720" marB="45720">
                    <a:solidFill>
                      <a:srgbClr val="F1F8F9"/>
                    </a:solidFill>
                  </a:tcPr>
                </a:tc>
                <a:tc>
                  <a:txBody>
                    <a:bodyPr wrap="square" lIns="95250" tIns="57150" rIns="76200" bIns="47625">
                      <a:noAutofit/>
                    </a:bodyPr>
                    <a:lstStyle/>
                    <a:p>
                      <a:r>
                        <a:rPr sz="1500" b="0">
                          <a:solidFill>
                            <a:srgbClr val="173447"/>
                          </a:solidFill>
                          <a:latin typeface="Arial"/>
                          <a:ea typeface="Arial"/>
                          <a:cs typeface="Arial"/>
                        </a:rPr>
                        <a:t>Calibrated marine channels</a:t>
                      </a:r>
                    </a:p>
                  </a:txBody>
                  <a:tcPr marL="91440" marR="91440" marT="45720" marB="45720">
                    <a:solidFill>
                      <a:srgbClr val="F1F8F9"/>
                    </a:solidFill>
                  </a:tcPr>
                </a:tc>
              </a:tr>
              <a:tr h="538163">
                <a:tc>
                  <a:txBody>
                    <a:bodyPr wrap="square" lIns="95250" tIns="57150" rIns="76200" bIns="47625">
                      <a:noAutofit/>
                    </a:bodyPr>
                    <a:lstStyle/>
                    <a:p>
                      <a:r>
                        <a:rPr sz="1500" b="1">
                          <a:solidFill>
                            <a:srgbClr val="173447"/>
                          </a:solidFill>
                          <a:latin typeface="Arial"/>
                          <a:ea typeface="Arial"/>
                          <a:cs typeface="Arial"/>
                        </a:rPr>
                        <a:t>Dynamic waveforms</a:t>
                      </a:r>
                    </a:p>
                  </a:txBody>
                  <a:tcPr marL="91440" marR="91440" marT="45720" marB="45720">
                    <a:solidFill>
                      <a:srgbClr val="FFFFFF"/>
                    </a:solidFill>
                  </a:tcPr>
                </a:tc>
                <a:tc>
                  <a:txBody>
                    <a:bodyPr wrap="square" lIns="95250" tIns="57150" rIns="76200" bIns="47625">
                      <a:noAutofit/>
                    </a:bodyPr>
                    <a:lstStyle/>
                    <a:p>
                      <a:r>
                        <a:rPr sz="1500" b="0">
                          <a:solidFill>
                            <a:srgbClr val="173447"/>
                          </a:solidFill>
                          <a:latin typeface="Arial"/>
                          <a:ea typeface="Arial"/>
                          <a:cs typeface="Arial"/>
                        </a:rPr>
                        <a:t>Four families generated in software</a:t>
                      </a:r>
                    </a:p>
                  </a:txBody>
                  <a:tcPr marL="91440" marR="91440" marT="45720" marB="45720">
                    <a:solidFill>
                      <a:srgbClr val="FFFFFF"/>
                    </a:solidFill>
                  </a:tcPr>
                </a:tc>
                <a:tc>
                  <a:txBody>
                    <a:bodyPr wrap="square" lIns="95250" tIns="57150" rIns="76200" bIns="47625">
                      <a:noAutofit/>
                    </a:bodyPr>
                    <a:lstStyle/>
                    <a:p>
                      <a:r>
                        <a:rPr sz="1500" b="0">
                          <a:solidFill>
                            <a:srgbClr val="173447"/>
                          </a:solidFill>
                          <a:latin typeface="Arial"/>
                          <a:ea typeface="Arial"/>
                          <a:cs typeface="Arial"/>
                        </a:rPr>
                        <a:t>Mode switching on a scope</a:t>
                      </a:r>
                    </a:p>
                  </a:txBody>
                  <a:tcPr marL="91440" marR="91440" marT="45720" marB="45720">
                    <a:solidFill>
                      <a:srgbClr val="FFFFFF"/>
                    </a:solidFill>
                  </a:tcPr>
                </a:tc>
              </a:tr>
              <a:tr h="538163">
                <a:tc>
                  <a:txBody>
                    <a:bodyPr wrap="square" lIns="95250" tIns="57150" rIns="76200" bIns="47625">
                      <a:noAutofit/>
                    </a:bodyPr>
                    <a:lstStyle/>
                    <a:p>
                      <a:r>
                        <a:rPr sz="1500" b="1">
                          <a:solidFill>
                            <a:srgbClr val="173447"/>
                          </a:solidFill>
                          <a:latin typeface="Arial"/>
                          <a:ea typeface="Arial"/>
                          <a:cs typeface="Arial"/>
                        </a:rPr>
                        <a:t>Low-power output</a:t>
                      </a:r>
                    </a:p>
                  </a:txBody>
                  <a:tcPr marL="91440" marR="91440" marT="45720" marB="45720">
                    <a:solidFill>
                      <a:srgbClr val="F1F8F9"/>
                    </a:solidFill>
                  </a:tcPr>
                </a:tc>
                <a:tc>
                  <a:txBody>
                    <a:bodyPr wrap="square" lIns="95250" tIns="57150" rIns="76200" bIns="47625">
                      <a:noAutofit/>
                    </a:bodyPr>
                    <a:lstStyle/>
                    <a:p>
                      <a:r>
                        <a:rPr sz="1500" b="0">
                          <a:solidFill>
                            <a:srgbClr val="173447"/>
                          </a:solidFill>
                          <a:latin typeface="Arial"/>
                          <a:ea typeface="Arial"/>
                          <a:cs typeface="Arial"/>
                        </a:rPr>
                        <a:t>DMA design and power model</a:t>
                      </a:r>
                    </a:p>
                  </a:txBody>
                  <a:tcPr marL="91440" marR="91440" marT="45720" marB="45720">
                    <a:solidFill>
                      <a:srgbClr val="F1F8F9"/>
                    </a:solidFill>
                  </a:tcPr>
                </a:tc>
                <a:tc>
                  <a:txBody>
                    <a:bodyPr wrap="square" lIns="95250" tIns="57150" rIns="76200" bIns="47625">
                      <a:noAutofit/>
                    </a:bodyPr>
                    <a:lstStyle/>
                    <a:p>
                      <a:r>
                        <a:rPr sz="1500" b="0">
                          <a:solidFill>
                            <a:srgbClr val="173447"/>
                          </a:solidFill>
                          <a:latin typeface="Arial"/>
                          <a:ea typeface="Arial"/>
                          <a:cs typeface="Arial"/>
                        </a:rPr>
                        <a:t>Current and tank measurements</a:t>
                      </a:r>
                    </a:p>
                  </a:txBody>
                  <a:tcPr marL="91440" marR="91440" marT="45720" marB="45720">
                    <a:solidFill>
                      <a:srgbClr val="F1F8F9"/>
                    </a:solidFill>
                  </a:tcPr>
                </a:tc>
              </a:tr>
            </a:tbl>
          </a:graphicData>
        </a:graphic>
      </p:graphicFrame>
      <p:sp>
        <p:nvSpPr>
          <p:cNvPr id="24" name="">
            <a:extLst xmlns:a="http://schemas.openxmlformats.org/drawingml/2006/main">
              <a:ext uri="{FF2B5EF4-FFF2-40B4-BE49-F238E27FC236}">
                <a16:creationId xmlns:a16="http://schemas.microsoft.com/office/drawing/2014/main" id="{916DCFED-5233-4720-AA5F-9B2902AF476A}"/>
              </a:ext>
            </a:extLst>
          </p:cNvPr>
          <p:cNvSpPr>
            <a:spLocks xmlns:a="http://schemas.openxmlformats.org/drawingml/2006/main" noGrp="1"/>
          </p:cNvSpPr>
          <p:nvPr/>
        </p:nvSpPr>
        <p:spPr>
          <a:xfrm xmlns:a="http://schemas.openxmlformats.org/drawingml/2006/main">
            <a:off x="857250" y="9858375"/>
            <a:ext cx="1666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47883"/>
                </a:solidFill>
                <a:latin typeface="Arial"/>
                <a:ea typeface="Arial"/>
                <a:cs typeface="Arial"/>
              </a:defRPr>
            </a:pPr>
            <a:r>
              <a:rPr sz="1425" b="0">
                <a:solidFill>
                  <a:srgbClr val="647883"/>
                </a:solidFill>
                <a:latin typeface="Arial"/>
                <a:ea typeface="Arial"/>
                <a:cs typeface="Arial"/>
              </a:rPr>
              <a:t>Prototype status: sensing and waveform software operate today; adaptive ultrasonic output awaits bench validation.</a:t>
            </a:r>
          </a:p>
        </p:txBody>
      </p:sp>
    </p:spTree>
    <p:extLst>
      <p:ext uri="{BB962C8B-B14F-4D97-AF65-F5344CB8AC3E}">
        <p14:creationId xmlns:p14="http://schemas.microsoft.com/office/powerpoint/2010/main" val="19355628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2026-09-27T11:28:44.1720000Z</dcterms:created>
  <dcterms:modified xsi:type="dcterms:W3CDTF">2026-09-27T11:28:44.1720000Z</dcterms:modified>
</coreProperties>
</file>